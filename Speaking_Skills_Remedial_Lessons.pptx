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eae5edd-eb42-20ca-ff57-325a132ceca5}">
          <p14:sldIdLst>
            <p14:sldId id="256"/>
            <p14:sldId id="257"/>
          </p14:sldIdLst>
        </p14:section>
        <p14:section name="Lesson 1: Introducing Yourself" id="{d1f8aacc-bcd6-bd4d-4520-142e7f8422b8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esson 2: Expressing Opinions" id="{563a7324-81cc-54e7-abe4-4285089e031e}">
          <p14:sldIdLst>
            <p14:sldId id="264"/>
            <p14:sldId id="265"/>
            <p14:sldId id="266"/>
            <p14:sldId id="267"/>
            <p14:sldId id="268"/>
          </p14:sldIdLst>
        </p14:section>
        <p14:section name="Lesson 3: Role Play" id="{77e3d10a-9005-3714-09fa-00355ea7771a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مقدمة: هذه الحصص التحسينية تركز على مهارة التعبير الشفهي في ثلاثة دروس. شجّع التلاميذ على الحديث بالإنجليزية فقط داخل الحصة، ولا تركز على الأخطاء الصغيرة في البداية.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نظرة عامة على البرنامج: ثلاثة دروس، كل درس يمكن تقديمه في حصة أو حصتين حسب مستوى القسم.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الهدف: أن يقدّم التلميذ نفسه في دقيقة واحدة بجمل صحيحة: الاسم، العمر، السكن، الهوايات، الدراسة.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كل عبارة، ثم اطلب من كل تلميذ أن يقول جملة واحدة من كل بطاقة. انتبه إلى I'm وليس I have في العمر (خطأ شائع: I have 15 years).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بعد like/love/enjoy نستعمل الفعل مع ing. اطلب من التلاميذ تكوين جمل عن هواياتهم باستعمال المفردات على اليمين.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ركّز على التبرير بـ because عند الحديث عن المادة المفضلة، وعلى want to / would like to للحديث عن المستقبل.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النص النموذجي بصوت مرتفع، ثم يكرره التلاميذ. بعد ذلك يكتب كل تلميذ نصاً مشابهاً عن نفسه ويقدّمه شفهياً.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ثنائي: يسأل كل تلميذ زميله ويسجل الإجابات، ثم يقدّمه للقسم بضمير الغائب (He/She) مع الانتباه إلى إضافة s للفعل.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الهدف: أن يعبّر التلميذ عن رأيه ويبرره، ويتفاعل مع آراء زملائه بأدب.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العبارات مرتبة من الأبسط إلى الأكثر رسمية. شجّع التلاميذ على تنويع العبارات بدل تكرار I think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نبّه إلى الخطأ الشائع: I am agree ← الصحيح: I agree. وعلّم التلاميذ أن الاعتراض المهذب أفضل من No, you are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طريقة بناء الرأي في أربع خطوات: رأي ثم سبب ثم مثال ثم خلاصة. اطلب من التلاميذ تطبيقها على موضوع من اختيارهم.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قسّم القسم إلى فريقين (مع / ضد). كل تلميذ يتكلم 30 ثانية على الأقل باستعمال عبارات الرأي والموافقة والاعتراض.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الهدف: استعمال اللغة في مواقف حياتية حقيقية. يتدرب التلاميذ على الحوار في ثنائيات ثم يمثلونه أمام القسم.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ركّز على الطلب المهذب: I'd like و Can I have بدل I want. يمكن إحضار قائمة طعام حقيقية لجعل النشاط ممتعاً.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مناسبة لمراجعة should / shouldn't للنصيحة، و have + اسم المرض (I have a fever).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يمكن ترتيب القسم كمطار صغير (مكتب تسجيل، بوابة) لجعل لعب الأدوار أكثر واقعية.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ثنائي يختار موقفاً ويكتب حواراً من 6 إلى 8 أسطر. بقية القسم يقيّمون الأداء بالنجوم حسب المعايير.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الواجب: تسجيل صوتي لمدة دقيقة يدمج الدرسين الأول والثاني. يمكن الاستماع لبعض التسجيلات في الحصة القادمة.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Speaking Skills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Remedial English Lessons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Introducing yourself · Giving opinions · Role plays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6126480" y="1188720"/>
            <a:ext cx="2468880" cy="2468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Our Lesson Plan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079" y="163951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Lesson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Introducing Yourself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Talk about yourself, your hobbies and your studies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19" y="163951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Expressing Opinions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your opinion, agree or disagree, and give reasons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995160" y="141732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163951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Lesson 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Role Play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situations: at the restaurant, at the doctor's, at the airport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LESSON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Introducing Yourself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Talk about yourself, your hobbies and your studies</a:t>
            </a:r>
            <a:endParaRPr lang="en-US" sz="1800" dirty="0"/>
          </a:p>
        </p:txBody>
      </p:sp>
      <p:sp>
        <p:nvSpPr>
          <p:cNvPr id="5" name="divider circle"/>
          <p:cNvSpPr/>
          <p:nvPr/>
        </p:nvSpPr>
        <p:spPr>
          <a:xfrm>
            <a:off x="6400800" y="1417320"/>
            <a:ext cx="2194560" cy="2194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divider inner"/>
          <p:cNvSpPr/>
          <p:nvPr/>
        </p:nvSpPr>
        <p:spPr>
          <a:xfrm>
            <a:off x="6629400" y="1645920"/>
            <a:ext cx="1737360" cy="1737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divi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57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Talking About Yourself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4159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 name is Amina.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Yacine.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108" y="14159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280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15 years old.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 birthday is in May.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319902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Origin &amp; Home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from Algeria.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live in Oran.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108" y="3199028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Family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have two brothers.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the eldest child.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Talking About Your Hobbies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2062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Useful structures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like / love / enjoy + verb-ing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interested in + noun / verb-ing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good at drawing.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my free time, I play football.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don't like / I hate cooking.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85800" y="3794760"/>
            <a:ext cx="374904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 enjoy reading. (not: I enjoy read)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937760" y="1097280"/>
            <a:ext cx="1783080" cy="1069848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097280"/>
            <a:ext cx="1600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reading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858000" y="1097280"/>
            <a:ext cx="1783080" cy="1069848"/>
          </a:xfrm>
          <a:prstGeom prst="roundRect">
            <a:avLst>
              <a:gd name="adj" fmla="val 1025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097280"/>
            <a:ext cx="1600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playing football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937760" y="2304288"/>
            <a:ext cx="1783080" cy="1069848"/>
          </a:xfrm>
          <a:prstGeom prst="roundRect">
            <a:avLst>
              <a:gd name="adj" fmla="val 1025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304288"/>
            <a:ext cx="1600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drawing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858000" y="2304288"/>
            <a:ext cx="1783080" cy="1069848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2304288"/>
            <a:ext cx="1600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swimming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4937760" y="3511296"/>
            <a:ext cx="1783080" cy="1069848"/>
          </a:xfrm>
          <a:prstGeom prst="roundRect">
            <a:avLst>
              <a:gd name="adj" fmla="val 1025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3511296"/>
            <a:ext cx="1600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cooking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6858000" y="3511296"/>
            <a:ext cx="1783080" cy="1069848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3511296"/>
            <a:ext cx="1600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video games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Talking About Your Studies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4159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 School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study at Ibn Khaldoun Middle School.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in my fourth year.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64408" y="109728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3447288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076" y="14159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28016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Favourite Subject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192024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 favourite subject is English.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like it because it's useful.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71616" y="109728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254496" y="12801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284" y="141594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28016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 Future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192024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want to become a doctor.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I'd like to study at university.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Say it!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2468880" y="35661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I'm a fourth-year student. My favourite subject is English because I love languages. I want to become a teacher.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Model: All About Me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" y="14159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Listen and repeat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chemeClr val="tx1"/>
                </a:solidFill>
              </a:rPr>
              <a:t>Hello! My name is Amina and I'm 15 years old. I'm from Algeria and I live in Oran with my parents and my two brothers. In my free time, I enjoy reading and drawing. I'm a fourth-year student and my favourite subject is English because I love learning languages. In the future, I want to become a doctor to help people.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Your turn! Include:</a:t>
            </a:r>
            <a:endParaRPr lang="en-US" sz="1600" dirty="0"/>
          </a:p>
        </p:txBody>
      </p:sp>
      <p:sp>
        <p:nvSpPr>
          <p:cNvPr id="10" name="icon circle"/>
          <p:cNvSpPr/>
          <p:nvPr/>
        </p:nvSpPr>
        <p:spPr>
          <a:xfrm>
            <a:off x="6035040" y="17830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982" y="1867022"/>
            <a:ext cx="143012" cy="143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73952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Name and age</a:t>
            </a:r>
            <a:endParaRPr lang="en-US" sz="1400" dirty="0"/>
          </a:p>
        </p:txBody>
      </p:sp>
      <p:sp>
        <p:nvSpPr>
          <p:cNvPr id="13" name="icon circle"/>
          <p:cNvSpPr/>
          <p:nvPr/>
        </p:nvSpPr>
        <p:spPr>
          <a:xfrm>
            <a:off x="6035040" y="22402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982" y="2324222"/>
            <a:ext cx="143012" cy="1430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73952" y="22402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Where you live</a:t>
            </a:r>
            <a:endParaRPr lang="en-US" sz="1400" dirty="0"/>
          </a:p>
        </p:txBody>
      </p:sp>
      <p:sp>
        <p:nvSpPr>
          <p:cNvPr id="16" name="icon circle"/>
          <p:cNvSpPr/>
          <p:nvPr/>
        </p:nvSpPr>
        <p:spPr>
          <a:xfrm>
            <a:off x="6035040" y="26974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982" y="2781422"/>
            <a:ext cx="143012" cy="1430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73952" y="2697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 family</a:t>
            </a:r>
            <a:endParaRPr lang="en-US" sz="1400" dirty="0"/>
          </a:p>
        </p:txBody>
      </p:sp>
      <p:sp>
        <p:nvSpPr>
          <p:cNvPr id="19" name="icon circle"/>
          <p:cNvSpPr/>
          <p:nvPr/>
        </p:nvSpPr>
        <p:spPr>
          <a:xfrm>
            <a:off x="6035040" y="31546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982" y="3238622"/>
            <a:ext cx="143012" cy="14301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73952" y="3154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 hobbies</a:t>
            </a:r>
            <a:endParaRPr lang="en-US" sz="1400" dirty="0"/>
          </a:p>
        </p:txBody>
      </p:sp>
      <p:sp>
        <p:nvSpPr>
          <p:cNvPr id="22" name="icon circle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8982" y="3695822"/>
            <a:ext cx="143012" cy="14301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73952" y="36118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 studies</a:t>
            </a:r>
            <a:endParaRPr lang="en-US" sz="1400" dirty="0"/>
          </a:p>
        </p:txBody>
      </p:sp>
      <p:sp>
        <p:nvSpPr>
          <p:cNvPr id="25" name="icon circle"/>
          <p:cNvSpPr/>
          <p:nvPr/>
        </p:nvSpPr>
        <p:spPr>
          <a:xfrm>
            <a:off x="6035040" y="406908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8982" y="4153022"/>
            <a:ext cx="143012" cy="14301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473952" y="4069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 future dream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Practice: Interview Your Partner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391260"/>
            <a:ext cx="189281" cy="1892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97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What's your name?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00400" y="10972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3337560" y="12801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660" y="1391260"/>
            <a:ext cx="189281" cy="18928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58768" y="1097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old are you?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0116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59436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2305660"/>
            <a:ext cx="189281" cy="18928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5568" y="2011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Where do you live?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3200400" y="20116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3337560" y="21945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660" y="2305660"/>
            <a:ext cx="189281" cy="18928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858768" y="2011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do you do in your free time?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220060"/>
            <a:ext cx="189281" cy="18928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What's your favourite subject? Why?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3200400" y="29260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3337560" y="31089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8660" y="3220060"/>
            <a:ext cx="189281" cy="18928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858768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do you want to be in the future?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393192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Then present your partner: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"This is Yacine. He is 14. He lives in Blida. He enjoys…"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03504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2636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How to do it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6263640" y="173736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Work in pairs.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Ask all the questions.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Write short notes.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Swap roles.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Present your partner to the class.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LESSON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Expressing Opinions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Give your opinion, agree or disagree, and give reasons</a:t>
            </a:r>
            <a:endParaRPr lang="en-US" sz="1800" dirty="0"/>
          </a:p>
        </p:txBody>
      </p:sp>
      <p:sp>
        <p:nvSpPr>
          <p:cNvPr id="5" name="divider circle"/>
          <p:cNvSpPr/>
          <p:nvPr/>
        </p:nvSpPr>
        <p:spPr>
          <a:xfrm>
            <a:off x="6400800" y="1417320"/>
            <a:ext cx="2194560" cy="2194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divider inner"/>
          <p:cNvSpPr/>
          <p:nvPr/>
        </p:nvSpPr>
        <p:spPr>
          <a:xfrm>
            <a:off x="6629400" y="1645920"/>
            <a:ext cx="1737360" cy="1737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divi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57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Giving Your Opinion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15184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 think…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3264408" y="1097280"/>
            <a:ext cx="2615184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01568" y="109728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 believe…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071616" y="1097280"/>
            <a:ext cx="2615184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08776" y="109728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my opinion,…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57200" y="2103120"/>
            <a:ext cx="2615184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10312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From my point of view,…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3264408" y="2103120"/>
            <a:ext cx="2615184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10312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As far as I'm concerned,…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071616" y="2103120"/>
            <a:ext cx="2615184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8776" y="210312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It seems to me that…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85800" y="35204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3668573"/>
            <a:ext cx="252374" cy="25237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3383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my opinion, homework is useful because it helps us revise our lessons.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Agreeing and Disagreeing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4159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Agree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agree with you.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That's true.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Exactly!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You're right.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64408" y="109728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3447288" y="1280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076" y="14159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28016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Partly agree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192024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partly agree, but…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That's true, but…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Maybe, however…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71616" y="1097280"/>
            <a:ext cx="261518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254496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284" y="141594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28016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Disagree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192024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disagree because…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don't think so.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I'm afraid I don't agree.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see your point, but…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Example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2468880" y="35661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A: I think English is easy.   B: I partly agree, but grammar is sometimes difficult.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Giving Reasons and Examples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783080" cy="22402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"/>
          <p:cNvSpPr/>
          <p:nvPr/>
        </p:nvSpPr>
        <p:spPr>
          <a:xfrm>
            <a:off x="109728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Opinion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 think sport is important</a:t>
            </a:r>
            <a:endParaRPr lang="en-US" sz="1400" dirty="0"/>
          </a:p>
        </p:txBody>
      </p:sp>
      <p:pic>
        <p:nvPicPr>
          <p:cNvPr id="8" name="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2103120"/>
            <a:ext cx="228600" cy="228600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2587752" y="1097280"/>
            <a:ext cx="1783080" cy="22402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number"/>
          <p:cNvSpPr/>
          <p:nvPr/>
        </p:nvSpPr>
        <p:spPr>
          <a:xfrm>
            <a:off x="3227832" y="1234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2783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679192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Reason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724912" y="21945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because it keeps us healthy.</a:t>
            </a:r>
            <a:endParaRPr lang="en-US" sz="1400" dirty="0"/>
          </a:p>
        </p:txBody>
      </p:sp>
      <p:pic>
        <p:nvPicPr>
          <p:cNvPr id="14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03120"/>
            <a:ext cx="228600" cy="228600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4718304" y="1097280"/>
            <a:ext cx="1783080" cy="22402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number"/>
          <p:cNvSpPr/>
          <p:nvPr/>
        </p:nvSpPr>
        <p:spPr>
          <a:xfrm>
            <a:off x="5358384" y="1234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58384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4809744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855464" y="21945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For example, football makes us strong.</a:t>
            </a:r>
            <a:endParaRPr lang="en-US" sz="1400" dirty="0"/>
          </a:p>
        </p:txBody>
      </p:sp>
      <p:pic>
        <p:nvPicPr>
          <p:cNvPr id="20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03120"/>
            <a:ext cx="228600" cy="228600"/>
          </a:xfrm>
          <a:prstGeom prst="rect">
            <a:avLst/>
          </a:prstGeom>
        </p:spPr>
      </p:pic>
      <p:sp>
        <p:nvSpPr>
          <p:cNvPr id="21" name="card"/>
          <p:cNvSpPr/>
          <p:nvPr/>
        </p:nvSpPr>
        <p:spPr>
          <a:xfrm>
            <a:off x="6848856" y="1097280"/>
            <a:ext cx="1783080" cy="22402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number"/>
          <p:cNvSpPr/>
          <p:nvPr/>
        </p:nvSpPr>
        <p:spPr>
          <a:xfrm>
            <a:off x="7488936" y="12344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488936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940296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986016" y="21945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So, everyone should practise sport.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" y="35661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Linking words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2560320" y="356616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because · since · for example · such as · firstly · moreover · however · finally · 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Practice: Mini Debates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Topic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Mobile phones should be allowed at school.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154680" y="109728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Topic 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600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Watching TV is a waste of time.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57200" y="288036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Topic 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City life is better than village life.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3154680" y="288036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Topic 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Students should wear school uniforms.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035040" y="1097280"/>
            <a:ext cx="2651760" cy="342900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Rules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7373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Choose a side: for or against.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Give two reasons.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Give one example.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React politely to your classmate.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LESSON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Role Play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At the restaurant · At the doctor's · At the airport</a:t>
            </a:r>
            <a:endParaRPr lang="en-US" sz="1800" dirty="0"/>
          </a:p>
        </p:txBody>
      </p:sp>
      <p:sp>
        <p:nvSpPr>
          <p:cNvPr id="5" name="divider circle"/>
          <p:cNvSpPr/>
          <p:nvPr/>
        </p:nvSpPr>
        <p:spPr>
          <a:xfrm>
            <a:off x="6400800" y="1417320"/>
            <a:ext cx="2194560" cy="2194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divider inner"/>
          <p:cNvSpPr/>
          <p:nvPr/>
        </p:nvSpPr>
        <p:spPr>
          <a:xfrm>
            <a:off x="6629400" y="1645920"/>
            <a:ext cx="1737360" cy="1737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divid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57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 the Restaurant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Waiter: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Good evening! Are you ready to order?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Customer: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Yes, please. I'd like a chicken couscous.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Waiter: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Would you like something to drink?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Customer: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 orange juice, please.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Waiter: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Anything else?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Customer: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No, thank you. Can I have the bill, please?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Waiter: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Of course. That's 800 dinars.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Useful expressions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I'd like…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Can I have…?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 do you recommend?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menu · starter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main course · dessert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bill · tip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 the Doctor's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Doctor: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Good morning. What's the matter?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Patient: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have a headache and a sore throat.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Doctor: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How long have you had it?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Patient: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Since yesterday. I also feel tired.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Doctor: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Let me check… You have the flu.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Doctor: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Take this medicine three times a day.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Patient: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Thank you, doctor.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Symptoms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headache · toothache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fever · cough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sore throat · stomachache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Advice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You should rest.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You shouldn't eat sweets.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Drink a lot of water.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 the Airport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Officer: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Good morning. Your passport and ticket, please.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Traveller: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Here you are.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Officer: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Where are you flying to?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Traveller: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 London.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Officer: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How many bags are you checking in?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Traveller: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Just one suitcase.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Officer: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Here's your boarding pass. Gate 5. Have a nice flight!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35204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Vocabulary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passport · ticket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boarding pass · gate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luggage · suitcase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Announcements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departure · arrival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delayed · cancelled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Please proceed to gate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Your Role Play Task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4008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14863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Choose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a situation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28600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57" y="267507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Prepare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your dialogue in 10 minutes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7472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40080" y="37033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57" y="386379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Perform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 it out in front of the class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937760" y="1097280"/>
            <a:ext cx="3749040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1663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Peer evaluation</a:t>
            </a:r>
            <a:endParaRPr lang="en-US" sz="1600" dirty="0"/>
          </a:p>
        </p:txBody>
      </p:sp>
      <p:sp>
        <p:nvSpPr>
          <p:cNvPr id="20" name="icon circle"/>
          <p:cNvSpPr/>
          <p:nvPr/>
        </p:nvSpPr>
        <p:spPr>
          <a:xfrm>
            <a:off x="5166360" y="178308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240" y="1871960"/>
            <a:ext cx="151425" cy="1514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17830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Clear pronunciation</a:t>
            </a:r>
            <a:endParaRPr lang="en-US" sz="1400" dirty="0"/>
          </a:p>
        </p:txBody>
      </p:sp>
      <p:sp>
        <p:nvSpPr>
          <p:cNvPr id="23" name="icon circle"/>
          <p:cNvSpPr/>
          <p:nvPr/>
        </p:nvSpPr>
        <p:spPr>
          <a:xfrm>
            <a:off x="5166360" y="23134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240" y="2402312"/>
            <a:ext cx="151425" cy="15142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23560" y="23134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Correct expressions</a:t>
            </a:r>
            <a:endParaRPr lang="en-US" sz="1400" dirty="0"/>
          </a:p>
        </p:txBody>
      </p:sp>
      <p:sp>
        <p:nvSpPr>
          <p:cNvPr id="26" name="icon circle"/>
          <p:cNvSpPr/>
          <p:nvPr/>
        </p:nvSpPr>
        <p:spPr>
          <a:xfrm>
            <a:off x="5166360" y="28437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240" y="2932664"/>
            <a:ext cx="151425" cy="15142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23560" y="2843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Eye contact and confidence</a:t>
            </a:r>
            <a:endParaRPr lang="en-US" sz="1400" dirty="0"/>
          </a:p>
        </p:txBody>
      </p:sp>
      <p:sp>
        <p:nvSpPr>
          <p:cNvPr id="29" name="icon circle"/>
          <p:cNvSpPr/>
          <p:nvPr/>
        </p:nvSpPr>
        <p:spPr>
          <a:xfrm>
            <a:off x="5166360" y="337413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240" y="3463016"/>
            <a:ext cx="151425" cy="15142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623560" y="3374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Polite language (please, thank you)</a:t>
            </a:r>
            <a:endParaRPr lang="en-US" sz="1400" dirty="0"/>
          </a:p>
        </p:txBody>
      </p:sp>
      <p:sp>
        <p:nvSpPr>
          <p:cNvPr id="32" name="icon circle"/>
          <p:cNvSpPr/>
          <p:nvPr/>
        </p:nvSpPr>
        <p:spPr>
          <a:xfrm>
            <a:off x="5166360" y="390448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5240" y="3993368"/>
            <a:ext cx="151425" cy="15142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623560" y="39044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Teamwork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Well Done!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Homework: Record a one-minute audio introducing yourself and giving your opinion on one debate topic.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6126480" y="1188720"/>
            <a:ext cx="2468880" cy="2468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aking Class">
  <a:themeElements>
    <a:clrScheme name="Speaking Class">
      <a:dk1>
        <a:srgbClr val="1F2433"/>
      </a:dk1>
      <a:lt1>
        <a:srgbClr val="FFFFFF"/>
      </a:lt1>
      <a:dk2>
        <a:srgbClr val="2F3C7E"/>
      </a:dk2>
      <a:lt2>
        <a:srgbClr val="F1F3FA"/>
      </a:lt2>
      <a:accent1>
        <a:srgbClr val="F96167"/>
      </a:accent1>
      <a:accent2>
        <a:srgbClr val="F4A62A"/>
      </a:accent2>
      <a:accent3>
        <a:srgbClr val="2A9D8F"/>
      </a:accent3>
      <a:accent4>
        <a:srgbClr val="6C5CE7"/>
      </a:accent4>
      <a:accent5>
        <a:srgbClr val="E76F51"/>
      </a:accent5>
      <a:accent6>
        <a:srgbClr val="8D99AE"/>
      </a:accent6>
      <a:hlink>
        <a:srgbClr val="2F3C7E"/>
      </a:hlink>
      <a:folHlink>
        <a:srgbClr val="6C5CE7"/>
      </a:folHlink>
    </a:clrScheme>
    <a:fontScheme name="Speaking Cla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Speaking Skills - Remedial English Lessons</dc:title>
  <dc:subject>PptxGenJS Presentation</dc:subject>
  <dc:creator>PptxGenJS</dc:creator>
  <cp:lastModifiedBy>PptxGenJS</cp:lastModifiedBy>
  <cp:revision>1</cp:revision>
  <dcterms:created xsi:type="dcterms:W3CDTF">2026-10-09T11:23:39Z</dcterms:created>
  <dcterms:modified xsi:type="dcterms:W3CDTF">2026-10-09T11:23:39Z</dcterms:modified>
</cp:coreProperties>
</file>