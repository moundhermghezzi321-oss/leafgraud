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12"/>
    <p:sldId id="262" r:id="rId8"/>
    <p:sldId id="261" r:id="rId7"/>
    <p:sldId id="265" r:id="rId11"/>
    <p:sldId id="274" r:id="rId25"/>
    <p:sldId id="275" r:id="rId26"/>
    <p:sldId id="276" r:id="rId27"/>
    <p:sldId id="277" r:id="rId28"/>
    <p:sldId id="278" r:id="rId29"/>
    <p:sldId id="279" r:id="rId30"/>
    <p:sldId id="268" r:id="rId14"/>
    <p:sldId id="270" r:id="rId16"/>
    <p:sldId id="269" r:id="rId15"/>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315f9d1-fcd1-628f-4d3e-39a1ff940b10}">
          <p14:sldIdLst>
            <p14:sldId id="256"/>
            <p14:sldId id="257"/>
            <p14:sldId id="258"/>
          </p14:sldIdLst>
        </p14:section>
        <p14:section name="Part 1: Language" id="{93197e83-55fe-ad9f-2e58-610597fee829}">
          <p14:sldIdLst>
            <p14:sldId id="259"/>
            <p14:sldId id="260"/>
            <p14:sldId id="261"/>
            <p14:sldId id="262"/>
            <p14:sldId id="263"/>
            <p14:sldId id="264"/>
          </p14:sldIdLst>
        </p14:section>
        <p14:section name="Part 2: Model Story" id="{f6cb0330-0c0f-8eb8-5d41-4c5ea1674620}">
          <p14:sldIdLst>
            <p14:sldId id="265"/>
            <p14:sldId id="266"/>
            <p14:sldId id="267"/>
          </p14:sldIdLst>
        </p14:section>
        <p14:section name="Part 3: Practice" id="{948f41bf-32b5-0f7e-443b-a01b567e33c5}">
          <p14:sldIdLst>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7.xml"/><Relationship Id="rId8" Type="http://schemas.openxmlformats.org/officeDocument/2006/relationships/slide" Target="slides/slide6.xml"/><Relationship Id="rId11" Type="http://schemas.openxmlformats.org/officeDocument/2006/relationships/slide" Target="slides/slide8.xml"/><Relationship Id="rId12" Type="http://schemas.openxmlformats.org/officeDocument/2006/relationships/slide" Target="slides/slide5.xml"/><Relationship Id="rId14" Type="http://schemas.openxmlformats.org/officeDocument/2006/relationships/slide" Target="slides/slide15.xml"/><Relationship Id="rId15" Type="http://schemas.openxmlformats.org/officeDocument/2006/relationships/slide" Target="slides/slide17.xml"/><Relationship Id="rId16" Type="http://schemas.openxmlformats.org/officeDocument/2006/relationships/slide" Target="slides/slide16.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الدرس الرابع: الانتقال من الحديث عن الحاضر إلى حكي أحداث الماضي بكلام متصل. مدة الدرس حصتان تقريباً.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نهاية الدرس يستطيع التلميذ حكي قصة قصيرة عن تجربة شخصية لمدة دقيقة، بأحداث مرتبة وأفعال في الماضي.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تمهيدي سريع: لا تصحح الأخطاء الآن، فقط لاحظ الأخطاء الشائعة في الماضي لتعود إليها في الشرح.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الأول: الأدوات اللغوية التي يحتاجها التلميذ ليحكي 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الأفعال الشاذة تُحفظ. لعبة سريعة: الأستاذ يقول الفعل في المضارع والتلميذ يجيب بالماضي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الخطأ الأكثر شيوعاً هو وضع الفعل في الماضي بعد did أو didn't. ركّز عليه بأمثلة كثيرة.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الثاني: قصة نموذجية يحكيها الأستاذ قبل أن يكتب التلاميذ قصصهم.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القصة مرتين. في المرة الثانية يسطّر التلاميذ الأفعال وكلمات الترتيب. الحل: الأفعال المنتظمة: visited. الأفعال الشاذة: woke, took, swam, ate, got, were, found, was. كلمات الترتيب: First, Then, After that, Suddenly,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الثالث: أنشطة تطبيقية متدرجة من الموجّه إلى الحر.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تلميذ يحكي صورة واحدة بالتتابع. النهاية المفاجئة (المدرسة مغلقة لأنه يوم عطلة) تثير الضحك وتشجع على المشاركة.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حركية: يتجول التلاميذ ويسألون بـ Did you. عند الإجابة بنعم يطرحون سؤالاً إضافياً بـ Wh- لتطوير المحادثة.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المهمة الختامية تقيّم الدرس كله. يستمع الزملاء ويتفاعلون بعبارات Really? / What happened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الواجب ينقل المهارة من الشفهي إلى الكتابي. في الحصة القادمة: Lesson 5 - Making Plans and Invitations.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743200"/>
            <a:ext cx="512064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rtlCol="0"/>
          <a:lstStyle>
            <a:lvl1pPr indent="0" marL="0">
              <a:buNone/>
              <a:defRPr lang="en-US" sz="1800" b="1" dirty="0">
                <a:solidFill>
                  <a:schemeClr val="tx2"/>
                </a:solidFill>
              </a:defRPr>
            </a:lvl1pPr>
          </a:lstStyle>
          <a:p>
            <a:pPr indent="0" marL="0">
              <a:buNone/>
            </a:pP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 Id="rId9" Type="http://schemas.openxmlformats.org/officeDocument/2006/relationships/image" Target="../media/image10.png"/><Relationship Id="rId10" Type="http://schemas.openxmlformats.org/officeDocument/2006/relationships/image" Target="../media/image9.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4.xml"/><Relationship Id="rId10" Type="http://schemas.openxmlformats.org/officeDocument/2006/relationships/notesSlide" Target="../notesSlides/notesSlide17.xml"/><Relationship Id="rId11"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188720"/>
          </a:xfrm>
          <a:prstGeom prst="rect">
            <a:avLst/>
          </a:prstGeom>
          <a:noFill/>
          <a:ln/>
        </p:spPr>
        <p:txBody>
          <a:bodyPr wrap="square" lIns="0" tIns="0" rIns="0" bIns="0" rtlCol="0" anchor="b"/>
          <a:lstStyle/>
          <a:p>
            <a:pPr algn="l" indent="0" marL="0">
              <a:buNone/>
            </a:pPr>
            <a:r>
              <a:rPr lang="en-US" sz="4400" b="1" dirty="0">
                <a:solidFill>
                  <a:schemeClr val="bg1"/>
                </a:solidFill>
              </a:rPr>
              <a:t>Plans and Dreams</a:t>
            </a:r>
            <a:endParaRPr lang="en-US" sz="4400" dirty="0"/>
          </a:p>
        </p:txBody>
      </p:sp>
      <p:sp>
        <p:nvSpPr>
          <p:cNvPr id="3" name="Text 0"/>
          <p:cNvSpPr/>
          <p:nvPr>
            <p:ph idx="101" type="body" hasCustomPrompt="1"/>
          </p:nvPr>
        </p:nvSpPr>
        <p:spPr>
          <a:xfrm>
            <a:off x="548640" y="2743200"/>
            <a:ext cx="5120640" cy="1280160"/>
          </a:xfrm>
          <a:prstGeom prst="rect">
            <a:avLst/>
          </a:prstGeom>
          <a:noFill/>
          <a:ln/>
        </p:spPr>
        <p:txBody>
          <a:bodyPr wrap="square" lIns="0" tIns="0" rIns="0" bIns="0" rtlCol="0" anchor="t"/>
          <a:lstStyle/>
          <a:p>
            <a:pPr indent="0" marL="0">
              <a:buNone/>
            </a:pPr>
            <a:r>
              <a:rPr lang="en-US" sz="1800" dirty="0">
                <a:solidFill>
                  <a:schemeClr val="bg2"/>
                </a:solidFill>
              </a:rPr>
              <a:t>Lesson 5 · Reading, Dialogues and Scenarios</a:t>
            </a:r>
            <a:endParaRPr lang="en-US" sz="1800" dirty="0"/>
          </a:p>
          <a:p>
            <a:pPr indent="0" marL="0">
              <a:buNone/>
            </a:pPr>
            <a:r>
              <a:rPr lang="en-US" sz="1800" dirty="0">
                <a:solidFill>
                  <a:schemeClr val="bg2"/>
                </a:solidFill>
              </a:rPr>
              <a:t>Speaking Skills · Remedial English Lessons</a:t>
            </a:r>
            <a:endParaRPr lang="en-US" sz="1800" dirty="0"/>
          </a:p>
        </p:txBody>
      </p:sp>
      <p:sp>
        <p:nvSpPr>
          <p:cNvPr id="4" name="hero circle"/>
          <p:cNvSpPr/>
          <p:nvPr/>
        </p:nvSpPr>
        <p:spPr>
          <a:xfrm>
            <a:off x="6126480" y="1188720"/>
            <a:ext cx="2468880" cy="2468880"/>
          </a:xfrm>
          <a:prstGeom prst="ellipse">
            <a:avLst/>
          </a:prstGeom>
          <a:solidFill>
            <a:schemeClr val="accent1"/>
          </a:solidFill>
          <a:ln w="12700">
            <a:solidFill>
              <a:schemeClr val="accent1"/>
            </a:solidFill>
            <a:prstDash val="solid"/>
          </a:ln>
        </p:spPr>
      </p:sp>
      <p:pic>
        <p:nvPicPr>
          <p:cNvPr id="5" name="hero icon" descr="preencoded.png">    </p:cNvPr>
          <p:cNvPicPr>
            <a:picLocks noChangeAspect="1"/>
          </p:cNvPicPr>
          <p:nvPr/>
        </p:nvPicPr>
        <p:blipFill>
          <a:blip r:embed="rId4"/>
          <a:stretch>
            <a:fillRect/>
          </a:stretch>
        </p:blipFill>
        <p:spPr>
          <a:xfrm>
            <a:off x="6766560" y="182880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Lesson Goals</a:t>
            </a:r>
            <a:endParaRPr lang="en-US" sz="3000" dirty="0"/>
          </a:p>
        </p:txBody>
      </p:sp>
      <p:sp>
        <p:nvSpPr>
          <p:cNvPr id="3" name="card"/>
          <p:cNvSpPr/>
          <p:nvPr/>
        </p:nvSpPr>
        <p:spPr>
          <a:xfrm>
            <a:off x="457200" y="1188720"/>
            <a:ext cx="2560320" cy="3291840"/>
          </a:xfrm>
          <a:prstGeom prst="roundRect">
            <a:avLst>
              <a:gd name="adj" fmla="val 4286"/>
            </a:avLst>
          </a:prstGeom>
          <a:solidFill>
            <a:schemeClr val="bg2"/>
          </a:solidFill>
          <a:ln w="12700">
            <a:solidFill>
              <a:schemeClr val="bg2"/>
            </a:solidFill>
            <a:prstDash val="solid"/>
          </a:ln>
        </p:spPr>
      </p:sp>
      <p:sp>
        <p:nvSpPr>
          <p:cNvPr id="4" name="icon circle"/>
          <p:cNvSpPr/>
          <p:nvPr/>
        </p:nvSpPr>
        <p:spPr>
          <a:xfrm>
            <a:off x="1325880" y="1417320"/>
            <a:ext cx="822960" cy="8229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6"/>
          <a:stretch>
            <a:fillRect/>
          </a:stretch>
        </p:blipFill>
        <p:spPr>
          <a:xfrm>
            <a:off x="1548079" y="1639519"/>
            <a:ext cx="378562" cy="378562"/>
          </a:xfrm>
          <a:prstGeom prst="rect">
            <a:avLst/>
          </a:prstGeom>
        </p:spPr>
      </p:pic>
      <p:sp>
        <p:nvSpPr>
          <p:cNvPr id="6" name="Text 3"/>
          <p:cNvSpPr txBox="1"/>
          <p:nvPr/>
        </p:nvSpPr>
        <p:spPr>
          <a:xfrm>
            <a:off x="640080" y="2377440"/>
            <a:ext cx="2194560" cy="320040"/>
          </a:xfrm>
          <a:prstGeom prst="rect">
            <a:avLst/>
          </a:prstGeom>
          <a:noFill/>
          <a:ln/>
        </p:spPr>
        <p:txBody>
          <a:bodyPr wrap="square" lIns="0" tIns="0" rIns="0" bIns="0" rtlCol="0" anchor="t"/>
          <a:lstStyle/>
          <a:p>
            <a:pPr algn="ctr" indent="0" marL="0">
              <a:buNone/>
            </a:pPr>
            <a:r>
              <a:rPr lang="en-US" sz="1400" b="1" dirty="0">
                <a:solidFill>
                  <a:schemeClr val="accent1"/>
                </a:solidFill>
              </a:rPr>
              <a:t>Goal 1</a:t>
            </a:r>
            <a:endParaRPr lang="en-US" sz="1400" dirty="0"/>
          </a:p>
        </p:txBody>
      </p:sp>
      <p:sp>
        <p:nvSpPr>
          <p:cNvPr id="7" name="Text 4"/>
          <p:cNvSpPr txBox="1"/>
          <p:nvPr/>
        </p:nvSpPr>
        <p:spPr>
          <a:xfrm>
            <a:off x="640080" y="269748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Read and Understand</a:t>
            </a:r>
            <a:endParaRPr lang="en-US" sz="1800" dirty="0"/>
          </a:p>
        </p:txBody>
      </p:sp>
      <p:sp>
        <p:nvSpPr>
          <p:cNvPr id="8" name="Text 5"/>
          <p:cNvSpPr txBox="1"/>
          <p:nvPr/>
        </p:nvSpPr>
        <p:spPr>
          <a:xfrm>
            <a:off x="685800" y="3200400"/>
            <a:ext cx="2103120" cy="1097280"/>
          </a:xfrm>
          <a:prstGeom prst="rect">
            <a:avLst/>
          </a:prstGeom>
          <a:noFill/>
          <a:ln/>
        </p:spPr>
        <p:txBody>
          <a:bodyPr wrap="square" lIns="0" tIns="0" rIns="0" bIns="0" rtlCol="0" anchor="t"/>
          <a:lstStyle/>
          <a:p>
            <a:pPr algn="ctr" indent="0" marL="0">
              <a:buNone/>
            </a:pPr>
            <a:r>
              <a:rPr lang="en-US" sz="1400" dirty="0">
                <a:solidFill>
                  <a:schemeClr val="tx1"/>
                </a:solidFill>
              </a:rPr>
              <a:t>A text about a student's plans for the future</a:t>
            </a:r>
            <a:endParaRPr lang="en-US" sz="1400" dirty="0"/>
          </a:p>
        </p:txBody>
      </p:sp>
      <p:sp>
        <p:nvSpPr>
          <p:cNvPr id="9" name="card"/>
          <p:cNvSpPr/>
          <p:nvPr/>
        </p:nvSpPr>
        <p:spPr>
          <a:xfrm>
            <a:off x="3291840" y="1188720"/>
            <a:ext cx="2560320" cy="3291840"/>
          </a:xfrm>
          <a:prstGeom prst="roundRect">
            <a:avLst>
              <a:gd name="adj" fmla="val 4286"/>
            </a:avLst>
          </a:prstGeom>
          <a:solidFill>
            <a:schemeClr val="bg2"/>
          </a:solidFill>
          <a:ln w="12700">
            <a:solidFill>
              <a:schemeClr val="bg2"/>
            </a:solidFill>
            <a:prstDash val="solid"/>
          </a:ln>
        </p:spPr>
      </p:sp>
      <p:sp>
        <p:nvSpPr>
          <p:cNvPr id="10" name="icon circle"/>
          <p:cNvSpPr/>
          <p:nvPr/>
        </p:nvSpPr>
        <p:spPr>
          <a:xfrm>
            <a:off x="4160520" y="1417320"/>
            <a:ext cx="822960" cy="82296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7"/>
          <a:stretch>
            <a:fillRect/>
          </a:stretch>
        </p:blipFill>
        <p:spPr>
          <a:xfrm>
            <a:off x="4382719" y="1639519"/>
            <a:ext cx="378562" cy="378562"/>
          </a:xfrm>
          <a:prstGeom prst="rect">
            <a:avLst/>
          </a:prstGeom>
        </p:spPr>
      </p:pic>
      <p:sp>
        <p:nvSpPr>
          <p:cNvPr id="12" name="Text 8"/>
          <p:cNvSpPr txBox="1"/>
          <p:nvPr/>
        </p:nvSpPr>
        <p:spPr>
          <a:xfrm>
            <a:off x="3474720" y="2377440"/>
            <a:ext cx="2194560" cy="320040"/>
          </a:xfrm>
          <a:prstGeom prst="rect">
            <a:avLst/>
          </a:prstGeom>
          <a:noFill/>
          <a:ln/>
        </p:spPr>
        <p:txBody>
          <a:bodyPr wrap="square" lIns="0" tIns="0" rIns="0" bIns="0" rtlCol="0" anchor="t"/>
          <a:lstStyle/>
          <a:p>
            <a:pPr algn="ctr" indent="0" marL="0">
              <a:buNone/>
            </a:pPr>
            <a:r>
              <a:rPr lang="en-US" sz="1400" b="1" dirty="0">
                <a:solidFill>
                  <a:schemeClr val="accent2"/>
                </a:solidFill>
              </a:rPr>
              <a:t>Goal 2</a:t>
            </a:r>
            <a:endParaRPr lang="en-US" sz="1400" dirty="0"/>
          </a:p>
        </p:txBody>
      </p:sp>
      <p:sp>
        <p:nvSpPr>
          <p:cNvPr id="13" name="Text 9"/>
          <p:cNvSpPr txBox="1"/>
          <p:nvPr/>
        </p:nvSpPr>
        <p:spPr>
          <a:xfrm>
            <a:off x="3474720" y="269748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Act Out Dialogues</a:t>
            </a:r>
            <a:endParaRPr lang="en-US" sz="1800" dirty="0"/>
          </a:p>
        </p:txBody>
      </p:sp>
      <p:sp>
        <p:nvSpPr>
          <p:cNvPr id="14" name="Text 10"/>
          <p:cNvSpPr txBox="1"/>
          <p:nvPr/>
        </p:nvSpPr>
        <p:spPr>
          <a:xfrm>
            <a:off x="3520440" y="3200400"/>
            <a:ext cx="2103120" cy="1097280"/>
          </a:xfrm>
          <a:prstGeom prst="rect">
            <a:avLst/>
          </a:prstGeom>
          <a:noFill/>
          <a:ln/>
        </p:spPr>
        <p:txBody>
          <a:bodyPr wrap="square" lIns="0" tIns="0" rIns="0" bIns="0" rtlCol="0" anchor="t"/>
          <a:lstStyle/>
          <a:p>
            <a:pPr algn="ctr" indent="0" marL="0">
              <a:buNone/>
            </a:pPr>
            <a:r>
              <a:rPr lang="en-US" sz="1400" dirty="0">
                <a:solidFill>
                  <a:schemeClr val="tx1"/>
                </a:solidFill>
              </a:rPr>
              <a:t>Six real-life situations with useful expressions</a:t>
            </a:r>
            <a:endParaRPr lang="en-US" sz="1400" dirty="0"/>
          </a:p>
        </p:txBody>
      </p:sp>
      <p:sp>
        <p:nvSpPr>
          <p:cNvPr id="15" name="card"/>
          <p:cNvSpPr/>
          <p:nvPr/>
        </p:nvSpPr>
        <p:spPr>
          <a:xfrm>
            <a:off x="6126480" y="1188720"/>
            <a:ext cx="2560320" cy="3291840"/>
          </a:xfrm>
          <a:prstGeom prst="roundRect">
            <a:avLst>
              <a:gd name="adj" fmla="val 4286"/>
            </a:avLst>
          </a:prstGeom>
          <a:solidFill>
            <a:schemeClr val="bg2"/>
          </a:solidFill>
          <a:ln w="12700">
            <a:solidFill>
              <a:schemeClr val="bg2"/>
            </a:solidFill>
            <a:prstDash val="solid"/>
          </a:ln>
        </p:spPr>
      </p:sp>
      <p:sp>
        <p:nvSpPr>
          <p:cNvPr id="16" name="icon circle"/>
          <p:cNvSpPr/>
          <p:nvPr/>
        </p:nvSpPr>
        <p:spPr>
          <a:xfrm>
            <a:off x="6995160" y="1417320"/>
            <a:ext cx="822960" cy="822960"/>
          </a:xfrm>
          <a:prstGeom prst="ellipse">
            <a:avLst/>
          </a:prstGeom>
          <a:solidFill>
            <a:schemeClr val="accent3"/>
          </a:solidFill>
          <a:ln w="12700">
            <a:solidFill>
              <a:schemeClr val="accent3"/>
            </a:solidFill>
            <a:prstDash val="solid"/>
          </a:ln>
        </p:spPr>
      </p:sp>
      <p:pic>
        <p:nvPicPr>
          <p:cNvPr id="17" name="icon" descr="preencoded.png">    </p:cNvPr>
          <p:cNvPicPr>
            <a:picLocks noChangeAspect="1"/>
          </p:cNvPicPr>
          <p:nvPr/>
        </p:nvPicPr>
        <p:blipFill>
          <a:blip r:embed="rId8"/>
          <a:stretch>
            <a:fillRect/>
          </a:stretch>
        </p:blipFill>
        <p:spPr>
          <a:xfrm>
            <a:off x="7217359" y="1639519"/>
            <a:ext cx="378562" cy="378562"/>
          </a:xfrm>
          <a:prstGeom prst="rect">
            <a:avLst/>
          </a:prstGeom>
        </p:spPr>
      </p:pic>
      <p:sp>
        <p:nvSpPr>
          <p:cNvPr id="18" name="Text 13"/>
          <p:cNvSpPr txBox="1"/>
          <p:nvPr/>
        </p:nvSpPr>
        <p:spPr>
          <a:xfrm>
            <a:off x="6309360" y="2377440"/>
            <a:ext cx="2194560" cy="320040"/>
          </a:xfrm>
          <a:prstGeom prst="rect">
            <a:avLst/>
          </a:prstGeom>
          <a:noFill/>
          <a:ln/>
        </p:spPr>
        <p:txBody>
          <a:bodyPr wrap="square" lIns="0" tIns="0" rIns="0" bIns="0" rtlCol="0" anchor="t"/>
          <a:lstStyle/>
          <a:p>
            <a:pPr algn="ctr" indent="0" marL="0">
              <a:buNone/>
            </a:pPr>
            <a:r>
              <a:rPr lang="en-US" sz="1400" b="1" dirty="0">
                <a:solidFill>
                  <a:schemeClr val="accent3"/>
                </a:solidFill>
              </a:rPr>
              <a:t>Goal 3</a:t>
            </a:r>
            <a:endParaRPr lang="en-US" sz="1400" dirty="0"/>
          </a:p>
        </p:txBody>
      </p:sp>
      <p:sp>
        <p:nvSpPr>
          <p:cNvPr id="19" name="Text 14"/>
          <p:cNvSpPr txBox="1"/>
          <p:nvPr/>
        </p:nvSpPr>
        <p:spPr>
          <a:xfrm>
            <a:off x="6309360" y="2697480"/>
            <a:ext cx="2194560" cy="411480"/>
          </a:xfrm>
          <a:prstGeom prst="rect">
            <a:avLst/>
          </a:prstGeom>
          <a:noFill/>
          <a:ln/>
        </p:spPr>
        <p:txBody>
          <a:bodyPr wrap="square" lIns="0" tIns="0" rIns="0" bIns="0" rtlCol="0" anchor="t"/>
          <a:lstStyle/>
          <a:p>
            <a:pPr algn="ctr" indent="0" marL="0">
              <a:buNone/>
            </a:pPr>
            <a:r>
              <a:rPr lang="en-US" sz="1800" b="1" dirty="0">
                <a:solidFill>
                  <a:schemeClr val="tx2"/>
                </a:solidFill>
              </a:rPr>
              <a:t>Perform Scenarios</a:t>
            </a:r>
            <a:endParaRPr lang="en-US" sz="1800" dirty="0"/>
          </a:p>
        </p:txBody>
      </p:sp>
      <p:sp>
        <p:nvSpPr>
          <p:cNvPr id="20" name="Text 15"/>
          <p:cNvSpPr txBox="1"/>
          <p:nvPr/>
        </p:nvSpPr>
        <p:spPr>
          <a:xfrm>
            <a:off x="6355080" y="3200400"/>
            <a:ext cx="2103120" cy="1097280"/>
          </a:xfrm>
          <a:prstGeom prst="rect">
            <a:avLst/>
          </a:prstGeom>
          <a:noFill/>
          <a:ln/>
        </p:spPr>
        <p:txBody>
          <a:bodyPr wrap="square" lIns="0" tIns="0" rIns="0" bIns="0" rtlCol="0" anchor="t"/>
          <a:lstStyle/>
          <a:p>
            <a:pPr algn="ctr" indent="0" marL="0">
              <a:buNone/>
            </a:pPr>
            <a:r>
              <a:rPr lang="en-US" sz="1400" dirty="0">
                <a:solidFill>
                  <a:schemeClr val="tx1"/>
                </a:solidFill>
              </a:rPr>
              <a:t>Speak without a script in new situations</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Warm-up: Let's Talk</a:t>
            </a:r>
            <a:endParaRPr lang="en-US" sz="3000" dirty="0"/>
          </a:p>
        </p:txBody>
      </p:sp>
      <p:sp>
        <p:nvSpPr>
          <p:cNvPr id="3" name="card"/>
          <p:cNvSpPr/>
          <p:nvPr/>
        </p:nvSpPr>
        <p:spPr>
          <a:xfrm>
            <a:off x="457200" y="1097280"/>
            <a:ext cx="2606040" cy="1645920"/>
          </a:xfrm>
          <a:prstGeom prst="roundRect">
            <a:avLst>
              <a:gd name="adj" fmla="val 6667"/>
            </a:avLst>
          </a:prstGeom>
          <a:solidFill>
            <a:schemeClr val="bg2"/>
          </a:solidFill>
          <a:ln w="12700">
            <a:solidFill>
              <a:schemeClr val="bg2"/>
            </a:solidFill>
            <a:prstDash val="solid"/>
          </a:ln>
        </p:spPr>
      </p:sp>
      <p:sp>
        <p:nvSpPr>
          <p:cNvPr id="4" name="icon circle"/>
          <p:cNvSpPr/>
          <p:nvPr/>
        </p:nvSpPr>
        <p:spPr>
          <a:xfrm>
            <a:off x="640080" y="128016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75868" y="1415948"/>
            <a:ext cx="231343" cy="231343"/>
          </a:xfrm>
          <a:prstGeom prst="rect">
            <a:avLst/>
          </a:prstGeom>
        </p:spPr>
      </p:pic>
      <p:sp>
        <p:nvSpPr>
          <p:cNvPr id="6" name="Text 3"/>
          <p:cNvSpPr txBox="1"/>
          <p:nvPr/>
        </p:nvSpPr>
        <p:spPr>
          <a:xfrm>
            <a:off x="640080" y="1874520"/>
            <a:ext cx="2240280" cy="777240"/>
          </a:xfrm>
          <a:prstGeom prst="rect">
            <a:avLst/>
          </a:prstGeom>
          <a:noFill/>
          <a:ln/>
        </p:spPr>
        <p:txBody>
          <a:bodyPr wrap="square" lIns="0" tIns="0" rIns="0" bIns="0" rtlCol="0" anchor="t"/>
          <a:lstStyle/>
          <a:p>
            <a:pPr indent="0" marL="0">
              <a:buNone/>
            </a:pPr>
            <a:r>
              <a:rPr lang="en-US" sz="1600" b="1" dirty="0">
                <a:solidFill>
                  <a:schemeClr val="tx2"/>
                </a:solidFill>
              </a:rPr>
              <a:t>What are you doing this weekend?</a:t>
            </a:r>
            <a:endParaRPr lang="en-US" sz="1600" dirty="0"/>
          </a:p>
        </p:txBody>
      </p:sp>
      <p:sp>
        <p:nvSpPr>
          <p:cNvPr id="7" name="card"/>
          <p:cNvSpPr/>
          <p:nvPr/>
        </p:nvSpPr>
        <p:spPr>
          <a:xfrm>
            <a:off x="3200400" y="1097280"/>
            <a:ext cx="2606040" cy="1645920"/>
          </a:xfrm>
          <a:prstGeom prst="roundRect">
            <a:avLst>
              <a:gd name="adj" fmla="val 6667"/>
            </a:avLst>
          </a:prstGeom>
          <a:solidFill>
            <a:schemeClr val="bg2"/>
          </a:solidFill>
          <a:ln w="12700">
            <a:solidFill>
              <a:schemeClr val="bg2"/>
            </a:solidFill>
            <a:prstDash val="solid"/>
          </a:ln>
        </p:spPr>
      </p:sp>
      <p:sp>
        <p:nvSpPr>
          <p:cNvPr id="8" name="icon circle"/>
          <p:cNvSpPr/>
          <p:nvPr/>
        </p:nvSpPr>
        <p:spPr>
          <a:xfrm>
            <a:off x="3383280" y="1280160"/>
            <a:ext cx="502920" cy="502920"/>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2"/>
          <a:stretch>
            <a:fillRect/>
          </a:stretch>
        </p:blipFill>
        <p:spPr>
          <a:xfrm>
            <a:off x="3519068" y="1415948"/>
            <a:ext cx="231343" cy="231343"/>
          </a:xfrm>
          <a:prstGeom prst="rect">
            <a:avLst/>
          </a:prstGeom>
        </p:spPr>
      </p:pic>
      <p:sp>
        <p:nvSpPr>
          <p:cNvPr id="10" name="Text 6"/>
          <p:cNvSpPr txBox="1"/>
          <p:nvPr/>
        </p:nvSpPr>
        <p:spPr>
          <a:xfrm>
            <a:off x="3383280" y="1874520"/>
            <a:ext cx="2240280" cy="777240"/>
          </a:xfrm>
          <a:prstGeom prst="rect">
            <a:avLst/>
          </a:prstGeom>
          <a:noFill/>
          <a:ln/>
        </p:spPr>
        <p:txBody>
          <a:bodyPr wrap="square" lIns="0" tIns="0" rIns="0" bIns="0" rtlCol="0" anchor="t"/>
          <a:lstStyle/>
          <a:p>
            <a:pPr indent="0" marL="0">
              <a:buNone/>
            </a:pPr>
            <a:r>
              <a:rPr lang="en-US" sz="1600" b="1" dirty="0">
                <a:solidFill>
                  <a:schemeClr val="tx2"/>
                </a:solidFill>
              </a:rPr>
              <a:t>Where are you going to go next summer?</a:t>
            </a:r>
            <a:endParaRPr lang="en-US" sz="1600" dirty="0"/>
          </a:p>
        </p:txBody>
      </p:sp>
      <p:sp>
        <p:nvSpPr>
          <p:cNvPr id="11" name="card"/>
          <p:cNvSpPr/>
          <p:nvPr/>
        </p:nvSpPr>
        <p:spPr>
          <a:xfrm>
            <a:off x="457200" y="2880360"/>
            <a:ext cx="2606040" cy="1645920"/>
          </a:xfrm>
          <a:prstGeom prst="roundRect">
            <a:avLst>
              <a:gd name="adj" fmla="val 6667"/>
            </a:avLst>
          </a:prstGeom>
          <a:solidFill>
            <a:schemeClr val="bg2"/>
          </a:solidFill>
          <a:ln w="12700">
            <a:solidFill>
              <a:schemeClr val="bg2"/>
            </a:solidFill>
            <a:prstDash val="solid"/>
          </a:ln>
        </p:spPr>
      </p:sp>
      <p:sp>
        <p:nvSpPr>
          <p:cNvPr id="12" name="icon circle"/>
          <p:cNvSpPr/>
          <p:nvPr/>
        </p:nvSpPr>
        <p:spPr>
          <a:xfrm>
            <a:off x="640080" y="3063240"/>
            <a:ext cx="502920" cy="502920"/>
          </a:xfrm>
          <a:prstGeom prst="ellipse">
            <a:avLst/>
          </a:prstGeom>
          <a:solidFill>
            <a:schemeClr val="accent3"/>
          </a:solidFill>
          <a:ln w="12700">
            <a:solidFill>
              <a:schemeClr val="accent3"/>
            </a:solidFill>
            <a:prstDash val="solid"/>
          </a:ln>
        </p:spPr>
      </p:sp>
      <p:pic>
        <p:nvPicPr>
          <p:cNvPr id="13" name="icon" descr="preencoded.png">    </p:cNvPr>
          <p:cNvPicPr>
            <a:picLocks noChangeAspect="1"/>
          </p:cNvPicPr>
          <p:nvPr/>
        </p:nvPicPr>
        <p:blipFill>
          <a:blip r:embed="rId3"/>
          <a:stretch>
            <a:fillRect/>
          </a:stretch>
        </p:blipFill>
        <p:spPr>
          <a:xfrm>
            <a:off x="775868" y="3199028"/>
            <a:ext cx="231343" cy="231343"/>
          </a:xfrm>
          <a:prstGeom prst="rect">
            <a:avLst/>
          </a:prstGeom>
        </p:spPr>
      </p:pic>
      <p:sp>
        <p:nvSpPr>
          <p:cNvPr id="14" name="Text 9"/>
          <p:cNvSpPr txBox="1"/>
          <p:nvPr/>
        </p:nvSpPr>
        <p:spPr>
          <a:xfrm>
            <a:off x="640080" y="3657600"/>
            <a:ext cx="2240280" cy="777240"/>
          </a:xfrm>
          <a:prstGeom prst="rect">
            <a:avLst/>
          </a:prstGeom>
          <a:noFill/>
          <a:ln/>
        </p:spPr>
        <p:txBody>
          <a:bodyPr wrap="square" lIns="0" tIns="0" rIns="0" bIns="0" rtlCol="0" anchor="t"/>
          <a:lstStyle/>
          <a:p>
            <a:pPr indent="0" marL="0">
              <a:buNone/>
            </a:pPr>
            <a:r>
              <a:rPr lang="en-US" sz="1600" b="1" dirty="0">
                <a:solidFill>
                  <a:schemeClr val="tx2"/>
                </a:solidFill>
              </a:rPr>
              <a:t>What job do you want to do in the future?</a:t>
            </a:r>
            <a:endParaRPr lang="en-US" sz="1600" dirty="0"/>
          </a:p>
        </p:txBody>
      </p:sp>
      <p:sp>
        <p:nvSpPr>
          <p:cNvPr id="15" name="card"/>
          <p:cNvSpPr/>
          <p:nvPr/>
        </p:nvSpPr>
        <p:spPr>
          <a:xfrm>
            <a:off x="3200400" y="2880360"/>
            <a:ext cx="2606040" cy="1645920"/>
          </a:xfrm>
          <a:prstGeom prst="roundRect">
            <a:avLst>
              <a:gd name="adj" fmla="val 6667"/>
            </a:avLst>
          </a:prstGeom>
          <a:solidFill>
            <a:schemeClr val="bg2"/>
          </a:solidFill>
          <a:ln w="12700">
            <a:solidFill>
              <a:schemeClr val="bg2"/>
            </a:solidFill>
            <a:prstDash val="solid"/>
          </a:ln>
        </p:spPr>
      </p:sp>
      <p:sp>
        <p:nvSpPr>
          <p:cNvPr id="16" name="icon circle"/>
          <p:cNvSpPr/>
          <p:nvPr/>
        </p:nvSpPr>
        <p:spPr>
          <a:xfrm>
            <a:off x="3383280" y="3063240"/>
            <a:ext cx="502920" cy="502920"/>
          </a:xfrm>
          <a:prstGeom prst="ellipse">
            <a:avLst/>
          </a:prstGeom>
          <a:solidFill>
            <a:schemeClr val="accent4"/>
          </a:solidFill>
          <a:ln w="12700">
            <a:solidFill>
              <a:schemeClr val="accent4"/>
            </a:solidFill>
            <a:prstDash val="solid"/>
          </a:ln>
        </p:spPr>
      </p:sp>
      <p:pic>
        <p:nvPicPr>
          <p:cNvPr id="17" name="icon" descr="preencoded.png">    </p:cNvPr>
          <p:cNvPicPr>
            <a:picLocks noChangeAspect="1"/>
          </p:cNvPicPr>
          <p:nvPr/>
        </p:nvPicPr>
        <p:blipFill>
          <a:blip r:embed="rId4"/>
          <a:stretch>
            <a:fillRect/>
          </a:stretch>
        </p:blipFill>
        <p:spPr>
          <a:xfrm>
            <a:off x="3519068" y="3199028"/>
            <a:ext cx="231343" cy="231343"/>
          </a:xfrm>
          <a:prstGeom prst="rect">
            <a:avLst/>
          </a:prstGeom>
        </p:spPr>
      </p:pic>
      <p:sp>
        <p:nvSpPr>
          <p:cNvPr id="18" name="Text 12"/>
          <p:cNvSpPr txBox="1"/>
          <p:nvPr/>
        </p:nvSpPr>
        <p:spPr>
          <a:xfrm>
            <a:off x="3383280" y="3657600"/>
            <a:ext cx="2240280" cy="777240"/>
          </a:xfrm>
          <a:prstGeom prst="rect">
            <a:avLst/>
          </a:prstGeom>
          <a:noFill/>
          <a:ln/>
        </p:spPr>
        <p:txBody>
          <a:bodyPr wrap="square" lIns="0" tIns="0" rIns="0" bIns="0" rtlCol="0" anchor="t"/>
          <a:lstStyle/>
          <a:p>
            <a:pPr indent="0" marL="0">
              <a:buNone/>
            </a:pPr>
            <a:r>
              <a:rPr lang="en-US" sz="1600" b="1" dirty="0">
                <a:solidFill>
                  <a:schemeClr val="tx2"/>
                </a:solidFill>
              </a:rPr>
              <a:t>Will people live on Mars one day?</a:t>
            </a:r>
            <a:endParaRPr lang="en-US" sz="1600" dirty="0"/>
          </a:p>
        </p:txBody>
      </p:sp>
      <p:sp>
        <p:nvSpPr>
          <p:cNvPr id="19" name="card"/>
          <p:cNvSpPr/>
          <p:nvPr/>
        </p:nvSpPr>
        <p:spPr>
          <a:xfrm>
            <a:off x="6035040" y="1097280"/>
            <a:ext cx="2651760" cy="3520440"/>
          </a:xfrm>
          <a:prstGeom prst="roundRect">
            <a:avLst>
              <a:gd name="adj" fmla="val 4138"/>
            </a:avLst>
          </a:prstGeom>
          <a:solidFill>
            <a:schemeClr val="accent3"/>
          </a:solidFill>
          <a:ln w="12700">
            <a:solidFill>
              <a:schemeClr val="accent3"/>
            </a:solidFill>
            <a:prstDash val="solid"/>
          </a:ln>
        </p:spPr>
      </p:sp>
      <p:sp>
        <p:nvSpPr>
          <p:cNvPr id="20" name="Text 14"/>
          <p:cNvSpPr txBox="1"/>
          <p:nvPr/>
        </p:nvSpPr>
        <p:spPr>
          <a:xfrm>
            <a:off x="6263640" y="1280160"/>
            <a:ext cx="2194560" cy="365760"/>
          </a:xfrm>
          <a:prstGeom prst="rect">
            <a:avLst/>
          </a:prstGeom>
          <a:noFill/>
          <a:ln/>
        </p:spPr>
        <p:txBody>
          <a:bodyPr wrap="square" lIns="0" tIns="0" rIns="0" bIns="0" rtlCol="0" anchor="t"/>
          <a:lstStyle/>
          <a:p>
            <a:pPr indent="0" marL="0">
              <a:buNone/>
            </a:pPr>
            <a:r>
              <a:rPr lang="en-US" sz="1600" b="1" dirty="0">
                <a:solidFill>
                  <a:schemeClr val="bg1"/>
                </a:solidFill>
              </a:rPr>
              <a:t>Warm-up</a:t>
            </a:r>
            <a:endParaRPr lang="en-US" sz="1600" dirty="0"/>
          </a:p>
        </p:txBody>
      </p:sp>
      <p:sp>
        <p:nvSpPr>
          <p:cNvPr id="21" name="Text 15"/>
          <p:cNvSpPr txBox="1"/>
          <p:nvPr/>
        </p:nvSpPr>
        <p:spPr>
          <a:xfrm>
            <a:off x="6263640" y="1737360"/>
            <a:ext cx="22402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Work in pairs.</a:t>
            </a:r>
            <a:endParaRPr lang="en-US" sz="1400" dirty="0"/>
          </a:p>
          <a:p>
            <a:pPr marL="342900" indent="-342900">
              <a:spcAft>
                <a:spcPts val="600"/>
              </a:spcAft>
              <a:buSzPct val="100000"/>
              <a:buChar char="•"/>
            </a:pPr>
            <a:r>
              <a:rPr lang="en-US" sz="1400" dirty="0">
                <a:solidFill>
                  <a:schemeClr val="bg1"/>
                </a:solidFill>
              </a:rPr>
              <a:t>Ask two questions.</a:t>
            </a:r>
            <a:endParaRPr lang="en-US" sz="1400" dirty="0"/>
          </a:p>
          <a:p>
            <a:pPr marL="342900" indent="-342900">
              <a:spcAft>
                <a:spcPts val="600"/>
              </a:spcAft>
              <a:buSzPct val="100000"/>
              <a:buChar char="•"/>
            </a:pPr>
            <a:r>
              <a:rPr lang="en-US" sz="1400" dirty="0">
                <a:solidFill>
                  <a:schemeClr val="bg1"/>
                </a:solidFill>
              </a:rPr>
              <a:t>Answer with full sentences.</a:t>
            </a:r>
            <a:endParaRPr lang="en-US" sz="1400" dirty="0"/>
          </a:p>
          <a:p>
            <a:pPr marL="342900" indent="-342900">
              <a:spcAft>
                <a:spcPts val="600"/>
              </a:spcAft>
              <a:buSzPct val="100000"/>
              <a:buChar char="•"/>
            </a:pPr>
            <a:r>
              <a:rPr lang="en-US" sz="1400" dirty="0">
                <a:solidFill>
                  <a:schemeClr val="bg1"/>
                </a:solidFill>
              </a:rPr>
              <a:t>Time: 3 minutes.</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lIns="0" tIns="0" rIns="0" bIns="0" rtlCol="0"/>
          <a:lstStyle/>
          <a:p>
            <a:pPr indent="0" marL="0">
              <a:buNone/>
            </a:pPr>
            <a:r>
              <a:rPr lang="en-US" sz="1800" b="1" dirty="0">
                <a:solidFill>
                  <a:schemeClr val="tx2"/>
                </a:solidFill>
              </a:rPr>
              <a:t>PART 1</a:t>
            </a: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lIns="0" tIns="0" rIns="0" bIns="0" rtlCol="0" anchor="t"/>
          <a:lstStyle/>
          <a:p>
            <a:pPr algn="l" indent="0" marL="0">
              <a:buNone/>
            </a:pPr>
            <a:r>
              <a:rPr lang="en-US" sz="4000" b="1" dirty="0">
                <a:solidFill>
                  <a:schemeClr val="bg1"/>
                </a:solidFill>
              </a:rPr>
              <a:t>Reading Text</a:t>
            </a: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lIns="0" tIns="0" rIns="0" bIns="0" rtlCol="0" anchor="t"/>
          <a:lstStyle/>
          <a:p>
            <a:pPr indent="0" marL="0">
              <a:buNone/>
            </a:pPr>
            <a:r>
              <a:rPr lang="en-US" sz="1800" dirty="0">
                <a:solidFill>
                  <a:schemeClr val="bg1"/>
                </a:solidFill>
              </a:rPr>
              <a:t>Read, understand and discuss</a:t>
            </a:r>
            <a:endParaRPr lang="en-US" sz="1800" dirty="0"/>
          </a:p>
        </p:txBody>
      </p:sp>
      <p:sp>
        <p:nvSpPr>
          <p:cNvPr id="5" name="divider circle"/>
          <p:cNvSpPr/>
          <p:nvPr/>
        </p:nvSpPr>
        <p:spPr>
          <a:xfrm>
            <a:off x="6400800" y="1417320"/>
            <a:ext cx="2194560" cy="2194560"/>
          </a:xfrm>
          <a:prstGeom prst="ellipse">
            <a:avLst/>
          </a:prstGeom>
          <a:solidFill>
            <a:schemeClr val="bg1"/>
          </a:solidFill>
          <a:ln w="12700">
            <a:solidFill>
              <a:schemeClr val="bg1"/>
            </a:solidFill>
            <a:prstDash val="solid"/>
          </a:ln>
        </p:spPr>
      </p:sp>
      <p:sp>
        <p:nvSpPr>
          <p:cNvPr id="6" name="divider inner"/>
          <p:cNvSpPr/>
          <p:nvPr/>
        </p:nvSpPr>
        <p:spPr>
          <a:xfrm>
            <a:off x="6629400" y="1645920"/>
            <a:ext cx="1737360" cy="1737360"/>
          </a:xfrm>
          <a:prstGeom prst="ellipse">
            <a:avLst/>
          </a:prstGeom>
          <a:solidFill>
            <a:schemeClr val="tx2"/>
          </a:solidFill>
          <a:ln w="12700">
            <a:solidFill>
              <a:schemeClr val="tx2"/>
            </a:solidFill>
            <a:prstDash val="solid"/>
          </a:ln>
        </p:spPr>
      </p:sp>
      <p:pic>
        <p:nvPicPr>
          <p:cNvPr id="7" name="divider icon" descr="preencoded.png">    </p:cNvPr>
          <p:cNvPicPr>
            <a:picLocks noChangeAspect="1"/>
          </p:cNvPicPr>
          <p:nvPr/>
        </p:nvPicPr>
        <p:blipFill>
          <a:blip r:embed="rId4"/>
          <a:stretch>
            <a:fillRect/>
          </a:stretch>
        </p:blipFill>
        <p:spPr>
          <a:xfrm>
            <a:off x="7040880" y="2057400"/>
            <a:ext cx="91440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Reading: Amina's Big Plans</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icon circle"/>
          <p:cNvSpPr/>
          <p:nvPr/>
        </p:nvSpPr>
        <p:spPr>
          <a:xfrm>
            <a:off x="685800" y="128016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4"/>
          <a:stretch>
            <a:fillRect/>
          </a:stretch>
        </p:blipFill>
        <p:spPr>
          <a:xfrm>
            <a:off x="821588" y="1415948"/>
            <a:ext cx="231343" cy="231343"/>
          </a:xfrm>
          <a:prstGeom prst="rect">
            <a:avLst/>
          </a:prstGeom>
        </p:spPr>
      </p:pic>
      <p:sp>
        <p:nvSpPr>
          <p:cNvPr id="6" name="Text 3"/>
          <p:cNvSpPr txBox="1"/>
          <p:nvPr/>
        </p:nvSpPr>
        <p:spPr>
          <a:xfrm>
            <a:off x="1325880" y="1280160"/>
            <a:ext cx="3931920" cy="502920"/>
          </a:xfrm>
          <a:prstGeom prst="rect">
            <a:avLst/>
          </a:prstGeom>
          <a:noFill/>
          <a:ln/>
        </p:spPr>
        <p:txBody>
          <a:bodyPr wrap="square" lIns="0" tIns="0" rIns="0" bIns="0" rtlCol="0" anchor="ctr"/>
          <a:lstStyle/>
          <a:p>
            <a:pPr indent="0" marL="0">
              <a:buNone/>
            </a:pPr>
            <a:r>
              <a:rPr lang="en-US" sz="1600" b="1" dirty="0">
                <a:solidFill>
                  <a:schemeClr val="tx2"/>
                </a:solidFill>
              </a:rPr>
              <a:t>Read the text</a:t>
            </a:r>
            <a:endParaRPr lang="en-US" sz="1600" dirty="0"/>
          </a:p>
        </p:txBody>
      </p:sp>
      <p:sp>
        <p:nvSpPr>
          <p:cNvPr id="7" name="Text 4"/>
          <p:cNvSpPr txBox="1"/>
          <p:nvPr/>
        </p:nvSpPr>
        <p:spPr>
          <a:xfrm>
            <a:off x="685800" y="1965960"/>
            <a:ext cx="4663440" cy="2514600"/>
          </a:xfrm>
          <a:prstGeom prst="rect">
            <a:avLst/>
          </a:prstGeom>
          <a:noFill/>
          <a:ln/>
        </p:spPr>
        <p:txBody>
          <a:bodyPr wrap="square" lIns="0" tIns="0" rIns="0" bIns="0" rtlCol="0" anchor="t"/>
          <a:lstStyle/>
          <a:p>
            <a:pPr indent="0" marL="0">
              <a:lnSpc>
                <a:spcPct val="110000"/>
              </a:lnSpc>
              <a:spcAft>
                <a:spcPts val="400"/>
              </a:spcAft>
              <a:buNone/>
            </a:pPr>
            <a:r>
              <a:rPr lang="en-US" sz="1300" i="1" dirty="0">
                <a:solidFill>
                  <a:schemeClr val="tx1"/>
                </a:solidFill>
              </a:rPr>
              <a:t>Amina is 17 and she lives in Setif. Next June, she is going to take her baccalaureate exam, so she is studying hard every day. Her dream is to become a doctor. She is going to apply to the Faculty of Medicine in Algiers. "It will be difficult, but I'm sure I'll do it," she says.</a:t>
            </a:r>
            <a:endParaRPr lang="en-US" sz="1500" dirty="0"/>
          </a:p>
          <a:p>
            <a:pPr indent="0" marL="0">
              <a:lnSpc>
                <a:spcPct val="110000"/>
              </a:lnSpc>
              <a:spcAft>
                <a:spcPts val="400"/>
              </a:spcAft>
              <a:buNone/>
            </a:pPr>
            <a:r>
              <a:rPr lang="en-US" sz="1300" i="1" dirty="0">
                <a:solidFill>
                  <a:schemeClr val="tx1"/>
                </a:solidFill>
              </a:rPr>
              <a:t>This summer, she is not going to travel. Instead, she is working in her uncle's pharmacy to save money and learn more about medicine. In ten years, Amina hopes to open her own clinic in her hometown. "I'll help people in my region," she explains. "Maybe I'll also travel abroad to work with doctors in other countries."</a:t>
            </a:r>
            <a:endParaRPr lang="en-US" sz="1500" dirty="0"/>
          </a:p>
        </p:txBody>
      </p:sp>
      <p:sp>
        <p:nvSpPr>
          <p:cNvPr id="8"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9" name="Text 6"/>
          <p:cNvSpPr txBox="1"/>
          <p:nvPr/>
        </p:nvSpPr>
        <p:spPr>
          <a:xfrm>
            <a:off x="6035040" y="1280160"/>
            <a:ext cx="2423160" cy="365760"/>
          </a:xfrm>
          <a:prstGeom prst="rect">
            <a:avLst/>
          </a:prstGeom>
          <a:noFill/>
          <a:ln/>
        </p:spPr>
        <p:txBody>
          <a:bodyPr wrap="square" lIns="0" tIns="0" rIns="0" bIns="0" rtlCol="0" anchor="t"/>
          <a:lstStyle/>
          <a:p>
            <a:pPr indent="0" marL="0">
              <a:buNone/>
            </a:pPr>
            <a:r>
              <a:rPr lang="en-US" sz="1600" b="1" dirty="0">
                <a:solidFill>
                  <a:schemeClr val="accent2"/>
                </a:solidFill>
              </a:rPr>
              <a:t>True or False?</a:t>
            </a:r>
            <a:endParaRPr lang="en-US" sz="1600" dirty="0"/>
          </a:p>
        </p:txBody>
      </p:sp>
      <p:sp>
        <p:nvSpPr>
          <p:cNvPr id="10" name="Text 7"/>
          <p:cNvSpPr txBox="1"/>
          <p:nvPr/>
        </p:nvSpPr>
        <p:spPr>
          <a:xfrm>
            <a:off x="6035040" y="1737360"/>
            <a:ext cx="24688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Amina lives in Algiers.</a:t>
            </a:r>
            <a:endParaRPr lang="en-US" sz="1400" dirty="0"/>
          </a:p>
          <a:p>
            <a:pPr marL="342900" indent="-342900">
              <a:spcAft>
                <a:spcPts val="600"/>
              </a:spcAft>
              <a:buSzPct val="100000"/>
              <a:buChar char="•"/>
            </a:pPr>
            <a:r>
              <a:rPr lang="en-US" sz="1400" dirty="0">
                <a:solidFill>
                  <a:schemeClr val="bg1"/>
                </a:solidFill>
              </a:rPr>
              <a:t>She wants to be a pharmacist.</a:t>
            </a:r>
            <a:endParaRPr lang="en-US" sz="1400" dirty="0"/>
          </a:p>
          <a:p>
            <a:pPr marL="342900" indent="-342900">
              <a:spcAft>
                <a:spcPts val="600"/>
              </a:spcAft>
              <a:buSzPct val="100000"/>
              <a:buChar char="•"/>
            </a:pPr>
            <a:r>
              <a:rPr lang="en-US" sz="1400" dirty="0">
                <a:solidFill>
                  <a:schemeClr val="bg1"/>
                </a:solidFill>
              </a:rPr>
              <a:t>She is working this summer.</a:t>
            </a:r>
            <a:endParaRPr lang="en-US" sz="1400" dirty="0"/>
          </a:p>
          <a:p>
            <a:pPr marL="342900" indent="-342900">
              <a:spcAft>
                <a:spcPts val="600"/>
              </a:spcAft>
              <a:buSzPct val="100000"/>
              <a:buChar char="•"/>
            </a:pPr>
            <a:r>
              <a:rPr lang="en-US" sz="1400" dirty="0">
                <a:solidFill>
                  <a:schemeClr val="bg1"/>
                </a:solidFill>
              </a:rPr>
              <a:t>She wants to open a clinic.</a:t>
            </a:r>
            <a:endParaRPr lang="en-US" sz="1400" dirty="0"/>
          </a:p>
          <a:p>
            <a:pPr marL="342900" indent="-342900">
              <a:spcAft>
                <a:spcPts val="600"/>
              </a:spcAft>
              <a:buSzPct val="100000"/>
              <a:buChar char="•"/>
            </a:pPr>
            <a:r>
              <a:rPr lang="en-US" sz="1400" dirty="0">
                <a:solidFill>
                  <a:schemeClr val="bg1"/>
                </a:solidFill>
              </a:rPr>
              <a:t>She will never travel.</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Comprehension Questions</a:t>
            </a:r>
            <a:endParaRPr lang="en-US" sz="3000" dirty="0"/>
          </a:p>
        </p:txBody>
      </p:sp>
      <p:sp>
        <p:nvSpPr>
          <p:cNvPr id="3" name="card"/>
          <p:cNvSpPr/>
          <p:nvPr/>
        </p:nvSpPr>
        <p:spPr>
          <a:xfrm>
            <a:off x="457200" y="1097280"/>
            <a:ext cx="2615184" cy="2286000"/>
          </a:xfrm>
          <a:prstGeom prst="roundRect">
            <a:avLst>
              <a:gd name="adj" fmla="val 4800"/>
            </a:avLst>
          </a:prstGeom>
          <a:solidFill>
            <a:schemeClr val="bg2"/>
          </a:solidFill>
          <a:ln w="12700">
            <a:solidFill>
              <a:schemeClr val="bg2"/>
            </a:solidFill>
            <a:prstDash val="solid"/>
          </a:ln>
        </p:spPr>
      </p:sp>
      <p:sp>
        <p:nvSpPr>
          <p:cNvPr id="4" name="icon circle"/>
          <p:cNvSpPr/>
          <p:nvPr/>
        </p:nvSpPr>
        <p:spPr>
          <a:xfrm>
            <a:off x="640080" y="128016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6"/>
          <a:stretch>
            <a:fillRect/>
          </a:stretch>
        </p:blipFill>
        <p:spPr>
          <a:xfrm>
            <a:off x="775868" y="1415948"/>
            <a:ext cx="231343" cy="231343"/>
          </a:xfrm>
          <a:prstGeom prst="rect">
            <a:avLst/>
          </a:prstGeom>
        </p:spPr>
      </p:pic>
      <p:sp>
        <p:nvSpPr>
          <p:cNvPr id="6" name="Text 3"/>
          <p:cNvSpPr txBox="1"/>
          <p:nvPr/>
        </p:nvSpPr>
        <p:spPr>
          <a:xfrm>
            <a:off x="1280160" y="1280160"/>
            <a:ext cx="1655064" cy="502920"/>
          </a:xfrm>
          <a:prstGeom prst="rect">
            <a:avLst/>
          </a:prstGeom>
          <a:noFill/>
          <a:ln/>
        </p:spPr>
        <p:txBody>
          <a:bodyPr wrap="square" lIns="0" tIns="0" rIns="0" bIns="0" rtlCol="0" anchor="ctr"/>
          <a:lstStyle/>
          <a:p>
            <a:pPr indent="0" marL="0">
              <a:buNone/>
            </a:pPr>
            <a:r>
              <a:rPr lang="en-US" sz="1600" b="1" dirty="0">
                <a:solidFill>
                  <a:schemeClr val="tx2"/>
                </a:solidFill>
              </a:rPr>
              <a:t>Find the information</a:t>
            </a:r>
            <a:endParaRPr lang="en-US" sz="1600" dirty="0"/>
          </a:p>
        </p:txBody>
      </p:sp>
      <p:sp>
        <p:nvSpPr>
          <p:cNvPr id="7" name="Text 4"/>
          <p:cNvSpPr txBox="1"/>
          <p:nvPr/>
        </p:nvSpPr>
        <p:spPr>
          <a:xfrm>
            <a:off x="685800" y="1920240"/>
            <a:ext cx="2203704"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Where does Amina live?</a:t>
            </a:r>
            <a:endParaRPr lang="en-US" sz="1400" dirty="0"/>
          </a:p>
          <a:p>
            <a:pPr marL="342900" indent="-342900">
              <a:spcAft>
                <a:spcPts val="600"/>
              </a:spcAft>
              <a:buSzPct val="100000"/>
              <a:buChar char="•"/>
            </a:pPr>
            <a:r>
              <a:rPr lang="en-US" sz="1400" dirty="0">
                <a:solidFill>
                  <a:schemeClr val="tx1"/>
                </a:solidFill>
              </a:rPr>
              <a:t>When is her exam?</a:t>
            </a:r>
            <a:endParaRPr lang="en-US" sz="1400" dirty="0"/>
          </a:p>
        </p:txBody>
      </p:sp>
      <p:sp>
        <p:nvSpPr>
          <p:cNvPr id="8" name="card"/>
          <p:cNvSpPr/>
          <p:nvPr/>
        </p:nvSpPr>
        <p:spPr>
          <a:xfrm>
            <a:off x="3264408" y="1097280"/>
            <a:ext cx="2615184" cy="2286000"/>
          </a:xfrm>
          <a:prstGeom prst="roundRect">
            <a:avLst>
              <a:gd name="adj" fmla="val 4800"/>
            </a:avLst>
          </a:prstGeom>
          <a:solidFill>
            <a:schemeClr val="bg2"/>
          </a:solidFill>
          <a:ln w="12700">
            <a:solidFill>
              <a:schemeClr val="bg2"/>
            </a:solidFill>
            <a:prstDash val="solid"/>
          </a:ln>
        </p:spPr>
      </p:sp>
      <p:sp>
        <p:nvSpPr>
          <p:cNvPr id="9" name="icon circle"/>
          <p:cNvSpPr/>
          <p:nvPr/>
        </p:nvSpPr>
        <p:spPr>
          <a:xfrm>
            <a:off x="3447288" y="1280160"/>
            <a:ext cx="502920" cy="502920"/>
          </a:xfrm>
          <a:prstGeom prst="ellipse">
            <a:avLst/>
          </a:prstGeom>
          <a:solidFill>
            <a:schemeClr val="accent3"/>
          </a:solidFill>
          <a:ln w="12700">
            <a:solidFill>
              <a:schemeClr val="accent3"/>
            </a:solidFill>
            <a:prstDash val="solid"/>
          </a:ln>
        </p:spPr>
      </p:sp>
      <p:pic>
        <p:nvPicPr>
          <p:cNvPr id="10" name="icon" descr="preencoded.png">    </p:cNvPr>
          <p:cNvPicPr>
            <a:picLocks noChangeAspect="1"/>
          </p:cNvPicPr>
          <p:nvPr/>
        </p:nvPicPr>
        <p:blipFill>
          <a:blip r:embed="rId7"/>
          <a:stretch>
            <a:fillRect/>
          </a:stretch>
        </p:blipFill>
        <p:spPr>
          <a:xfrm>
            <a:off x="3583076" y="1415948"/>
            <a:ext cx="231343" cy="231343"/>
          </a:xfrm>
          <a:prstGeom prst="rect">
            <a:avLst/>
          </a:prstGeom>
        </p:spPr>
      </p:pic>
      <p:sp>
        <p:nvSpPr>
          <p:cNvPr id="11" name="Text 7"/>
          <p:cNvSpPr txBox="1"/>
          <p:nvPr/>
        </p:nvSpPr>
        <p:spPr>
          <a:xfrm>
            <a:off x="4087368" y="1280160"/>
            <a:ext cx="1655064" cy="502920"/>
          </a:xfrm>
          <a:prstGeom prst="rect">
            <a:avLst/>
          </a:prstGeom>
          <a:noFill/>
          <a:ln/>
        </p:spPr>
        <p:txBody>
          <a:bodyPr wrap="square" lIns="0" tIns="0" rIns="0" bIns="0" rtlCol="0" anchor="ctr"/>
          <a:lstStyle/>
          <a:p>
            <a:pPr indent="0" marL="0">
              <a:buNone/>
            </a:pPr>
            <a:r>
              <a:rPr lang="en-US" sz="1600" b="1" dirty="0">
                <a:solidFill>
                  <a:schemeClr val="tx2"/>
                </a:solidFill>
              </a:rPr>
              <a:t>Think and answer</a:t>
            </a:r>
            <a:endParaRPr lang="en-US" sz="1600" dirty="0"/>
          </a:p>
        </p:txBody>
      </p:sp>
      <p:sp>
        <p:nvSpPr>
          <p:cNvPr id="12" name="Text 8"/>
          <p:cNvSpPr txBox="1"/>
          <p:nvPr/>
        </p:nvSpPr>
        <p:spPr>
          <a:xfrm>
            <a:off x="3493008" y="1920240"/>
            <a:ext cx="2203704"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Why is she working this summer?</a:t>
            </a:r>
            <a:endParaRPr lang="en-US" sz="1400" dirty="0"/>
          </a:p>
          <a:p>
            <a:pPr marL="342900" indent="-342900">
              <a:spcAft>
                <a:spcPts val="600"/>
              </a:spcAft>
              <a:buSzPct val="100000"/>
              <a:buChar char="•"/>
            </a:pPr>
            <a:r>
              <a:rPr lang="en-US" sz="1400" dirty="0">
                <a:solidFill>
                  <a:schemeClr val="tx1"/>
                </a:solidFill>
              </a:rPr>
              <a:t>What will she do in ten years?</a:t>
            </a:r>
            <a:endParaRPr lang="en-US" sz="1400" dirty="0"/>
          </a:p>
        </p:txBody>
      </p:sp>
      <p:sp>
        <p:nvSpPr>
          <p:cNvPr id="13" name="card"/>
          <p:cNvSpPr/>
          <p:nvPr/>
        </p:nvSpPr>
        <p:spPr>
          <a:xfrm>
            <a:off x="6071616" y="1097280"/>
            <a:ext cx="2615184" cy="2286000"/>
          </a:xfrm>
          <a:prstGeom prst="roundRect">
            <a:avLst>
              <a:gd name="adj" fmla="val 4800"/>
            </a:avLst>
          </a:prstGeom>
          <a:solidFill>
            <a:schemeClr val="bg2"/>
          </a:solidFill>
          <a:ln w="12700">
            <a:solidFill>
              <a:schemeClr val="bg2"/>
            </a:solidFill>
            <a:prstDash val="solid"/>
          </a:ln>
        </p:spPr>
      </p:sp>
      <p:sp>
        <p:nvSpPr>
          <p:cNvPr id="14" name="icon circle"/>
          <p:cNvSpPr/>
          <p:nvPr/>
        </p:nvSpPr>
        <p:spPr>
          <a:xfrm>
            <a:off x="6254496" y="1280160"/>
            <a:ext cx="502920" cy="502920"/>
          </a:xfrm>
          <a:prstGeom prst="ellipse">
            <a:avLst/>
          </a:prstGeom>
          <a:solidFill>
            <a:schemeClr val="accent4"/>
          </a:solidFill>
          <a:ln w="12700">
            <a:solidFill>
              <a:schemeClr val="accent4"/>
            </a:solidFill>
            <a:prstDash val="solid"/>
          </a:ln>
        </p:spPr>
      </p:sp>
      <p:pic>
        <p:nvPicPr>
          <p:cNvPr id="15" name="icon" descr="preencoded.png">    </p:cNvPr>
          <p:cNvPicPr>
            <a:picLocks noChangeAspect="1"/>
          </p:cNvPicPr>
          <p:nvPr/>
        </p:nvPicPr>
        <p:blipFill>
          <a:blip r:embed="rId8"/>
          <a:stretch>
            <a:fillRect/>
          </a:stretch>
        </p:blipFill>
        <p:spPr>
          <a:xfrm>
            <a:off x="6390284" y="1415948"/>
            <a:ext cx="231343" cy="231343"/>
          </a:xfrm>
          <a:prstGeom prst="rect">
            <a:avLst/>
          </a:prstGeom>
        </p:spPr>
      </p:pic>
      <p:sp>
        <p:nvSpPr>
          <p:cNvPr id="16" name="Text 11"/>
          <p:cNvSpPr txBox="1"/>
          <p:nvPr/>
        </p:nvSpPr>
        <p:spPr>
          <a:xfrm>
            <a:off x="6894576" y="1280160"/>
            <a:ext cx="1655064" cy="502920"/>
          </a:xfrm>
          <a:prstGeom prst="rect">
            <a:avLst/>
          </a:prstGeom>
          <a:noFill/>
          <a:ln/>
        </p:spPr>
        <p:txBody>
          <a:bodyPr wrap="square" lIns="0" tIns="0" rIns="0" bIns="0" rtlCol="0" anchor="ctr"/>
          <a:lstStyle/>
          <a:p>
            <a:pPr indent="0" marL="0">
              <a:buNone/>
            </a:pPr>
            <a:r>
              <a:rPr lang="en-US" sz="1600" b="1" dirty="0">
                <a:solidFill>
                  <a:schemeClr val="tx2"/>
                </a:solidFill>
              </a:rPr>
              <a:t>Your opinion</a:t>
            </a:r>
            <a:endParaRPr lang="en-US" sz="1600" dirty="0"/>
          </a:p>
        </p:txBody>
      </p:sp>
      <p:sp>
        <p:nvSpPr>
          <p:cNvPr id="17" name="Text 12"/>
          <p:cNvSpPr txBox="1"/>
          <p:nvPr/>
        </p:nvSpPr>
        <p:spPr>
          <a:xfrm>
            <a:off x="6300216" y="1920240"/>
            <a:ext cx="2203704"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Is Amina's plan realistic?</a:t>
            </a:r>
            <a:endParaRPr lang="en-US" sz="1400" dirty="0"/>
          </a:p>
          <a:p>
            <a:pPr marL="342900" indent="-342900">
              <a:spcAft>
                <a:spcPts val="600"/>
              </a:spcAft>
              <a:buSzPct val="100000"/>
              <a:buChar char="•"/>
            </a:pPr>
            <a:r>
              <a:rPr lang="en-US" sz="1400" dirty="0">
                <a:solidFill>
                  <a:schemeClr val="tx1"/>
                </a:solidFill>
              </a:rPr>
              <a:t>What is YOUR big plan?</a:t>
            </a:r>
            <a:endParaRPr lang="en-US" sz="1400" dirty="0"/>
          </a:p>
        </p:txBody>
      </p:sp>
      <p:sp>
        <p:nvSpPr>
          <p:cNvPr id="18" name="card"/>
          <p:cNvSpPr/>
          <p:nvPr/>
        </p:nvSpPr>
        <p:spPr>
          <a:xfrm>
            <a:off x="457200" y="3566160"/>
            <a:ext cx="8229600" cy="1051560"/>
          </a:xfrm>
          <a:prstGeom prst="roundRect">
            <a:avLst>
              <a:gd name="adj" fmla="val 10435"/>
            </a:avLst>
          </a:prstGeom>
          <a:solidFill>
            <a:schemeClr val="tx2"/>
          </a:solidFill>
          <a:ln w="12700">
            <a:solidFill>
              <a:schemeClr val="tx2"/>
            </a:solidFill>
            <a:prstDash val="solid"/>
          </a:ln>
        </p:spPr>
      </p:sp>
      <p:sp>
        <p:nvSpPr>
          <p:cNvPr id="19" name="Text 14"/>
          <p:cNvSpPr txBox="1"/>
          <p:nvPr/>
        </p:nvSpPr>
        <p:spPr>
          <a:xfrm>
            <a:off x="685800" y="3566160"/>
            <a:ext cx="1737360" cy="1051560"/>
          </a:xfrm>
          <a:prstGeom prst="rect">
            <a:avLst/>
          </a:prstGeom>
          <a:noFill/>
          <a:ln/>
        </p:spPr>
        <p:txBody>
          <a:bodyPr wrap="square" lIns="0" tIns="0" rIns="0" bIns="0" rtlCol="0" anchor="ctr"/>
          <a:lstStyle/>
          <a:p>
            <a:pPr indent="0" marL="0">
              <a:buNone/>
            </a:pPr>
            <a:r>
              <a:rPr lang="en-US" sz="1600" b="1" dirty="0">
                <a:solidFill>
                  <a:schemeClr val="accent2"/>
                </a:solidFill>
              </a:rPr>
              <a:t>Language hunt</a:t>
            </a:r>
            <a:endParaRPr lang="en-US" sz="1600" dirty="0"/>
          </a:p>
        </p:txBody>
      </p:sp>
      <p:sp>
        <p:nvSpPr>
          <p:cNvPr id="20" name="Text 15"/>
          <p:cNvSpPr txBox="1"/>
          <p:nvPr/>
        </p:nvSpPr>
        <p:spPr>
          <a:xfrm>
            <a:off x="2468880" y="3566160"/>
            <a:ext cx="6035040" cy="1051560"/>
          </a:xfrm>
          <a:prstGeom prst="rect">
            <a:avLst/>
          </a:prstGeom>
          <a:noFill/>
          <a:ln/>
        </p:spPr>
        <p:txBody>
          <a:bodyPr wrap="square" lIns="0" tIns="0" rIns="0" bIns="0" rtlCol="0" anchor="ctr"/>
          <a:lstStyle/>
          <a:p>
            <a:pPr indent="0" marL="0">
              <a:buNone/>
            </a:pPr>
            <a:r>
              <a:rPr lang="en-US" sz="1500" i="1" dirty="0">
                <a:solidFill>
                  <a:schemeClr val="bg1"/>
                </a:solidFill>
              </a:rPr>
              <a:t>Find in the text:  3 × going to  ·  4 × will  ·  2 × present continuous</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Collocations: Plans for Life</a:t>
            </a:r>
            <a:endParaRPr lang="en-US" sz="3000" dirty="0"/>
          </a:p>
        </p:txBody>
      </p:sp>
      <p:sp>
        <p:nvSpPr>
          <p:cNvPr id="3" name="card"/>
          <p:cNvSpPr/>
          <p:nvPr/>
        </p:nvSpPr>
        <p:spPr>
          <a:xfrm>
            <a:off x="457200" y="1097280"/>
            <a:ext cx="1938528" cy="1051560"/>
          </a:xfrm>
          <a:prstGeom prst="roundRect">
            <a:avLst>
              <a:gd name="adj" fmla="val 10435"/>
            </a:avLst>
          </a:prstGeom>
          <a:solidFill>
            <a:schemeClr val="bg2"/>
          </a:solidFill>
          <a:ln w="12700">
            <a:solidFill>
              <a:schemeClr val="bg2"/>
            </a:solidFill>
            <a:prstDash val="solid"/>
          </a:ln>
        </p:spPr>
      </p:sp>
      <p:sp>
        <p:nvSpPr>
          <p:cNvPr id="4" name="Text 2"/>
          <p:cNvSpPr txBox="1"/>
          <p:nvPr/>
        </p:nvSpPr>
        <p:spPr>
          <a:xfrm>
            <a:off x="548640"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pass  →  </a:t>
            </a:r>
            <a:pPr algn="ctr" indent="0" marL="0">
              <a:buNone/>
            </a:pPr>
            <a:r>
              <a:rPr lang="en-US" sz="1800" b="1" dirty="0">
                <a:solidFill>
                  <a:schemeClr val="accent1"/>
                </a:solidFill>
              </a:rPr>
              <a:t>exams</a:t>
            </a:r>
            <a:endParaRPr lang="en-US" sz="1800" dirty="0"/>
          </a:p>
        </p:txBody>
      </p:sp>
      <p:sp>
        <p:nvSpPr>
          <p:cNvPr id="5" name="card"/>
          <p:cNvSpPr/>
          <p:nvPr/>
        </p:nvSpPr>
        <p:spPr>
          <a:xfrm>
            <a:off x="2542032" y="1097280"/>
            <a:ext cx="1938528" cy="1051560"/>
          </a:xfrm>
          <a:prstGeom prst="roundRect">
            <a:avLst>
              <a:gd name="adj" fmla="val 10435"/>
            </a:avLst>
          </a:prstGeom>
          <a:solidFill>
            <a:schemeClr val="bg2"/>
          </a:solidFill>
          <a:ln w="12700">
            <a:solidFill>
              <a:schemeClr val="bg2"/>
            </a:solidFill>
            <a:prstDash val="solid"/>
          </a:ln>
        </p:spPr>
      </p:sp>
      <p:sp>
        <p:nvSpPr>
          <p:cNvPr id="6" name="Text 4"/>
          <p:cNvSpPr txBox="1"/>
          <p:nvPr/>
        </p:nvSpPr>
        <p:spPr>
          <a:xfrm>
            <a:off x="2633472"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save  →  </a:t>
            </a:r>
            <a:pPr algn="ctr" indent="0" marL="0">
              <a:buNone/>
            </a:pPr>
            <a:r>
              <a:rPr lang="en-US" sz="1800" b="1" dirty="0">
                <a:solidFill>
                  <a:schemeClr val="accent2"/>
                </a:solidFill>
              </a:rPr>
              <a:t>money</a:t>
            </a:r>
            <a:endParaRPr lang="en-US" sz="1800" dirty="0"/>
          </a:p>
        </p:txBody>
      </p:sp>
      <p:sp>
        <p:nvSpPr>
          <p:cNvPr id="7" name="card"/>
          <p:cNvSpPr/>
          <p:nvPr/>
        </p:nvSpPr>
        <p:spPr>
          <a:xfrm>
            <a:off x="4626864" y="1097280"/>
            <a:ext cx="1938528" cy="1051560"/>
          </a:xfrm>
          <a:prstGeom prst="roundRect">
            <a:avLst>
              <a:gd name="adj" fmla="val 10435"/>
            </a:avLst>
          </a:prstGeom>
          <a:solidFill>
            <a:schemeClr val="bg2"/>
          </a:solidFill>
          <a:ln w="12700">
            <a:solidFill>
              <a:schemeClr val="bg2"/>
            </a:solidFill>
            <a:prstDash val="solid"/>
          </a:ln>
        </p:spPr>
      </p:sp>
      <p:sp>
        <p:nvSpPr>
          <p:cNvPr id="8" name="Text 6"/>
          <p:cNvSpPr txBox="1"/>
          <p:nvPr/>
        </p:nvSpPr>
        <p:spPr>
          <a:xfrm>
            <a:off x="4718304"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get  →  </a:t>
            </a:r>
            <a:pPr algn="ctr" indent="0" marL="0">
              <a:buNone/>
            </a:pPr>
            <a:r>
              <a:rPr lang="en-US" sz="1800" b="1" dirty="0">
                <a:solidFill>
                  <a:schemeClr val="accent3"/>
                </a:solidFill>
              </a:rPr>
              <a:t>a job</a:t>
            </a:r>
            <a:endParaRPr lang="en-US" sz="1800" dirty="0"/>
          </a:p>
        </p:txBody>
      </p:sp>
      <p:sp>
        <p:nvSpPr>
          <p:cNvPr id="9" name="card"/>
          <p:cNvSpPr/>
          <p:nvPr/>
        </p:nvSpPr>
        <p:spPr>
          <a:xfrm>
            <a:off x="6711696" y="1097280"/>
            <a:ext cx="1938528" cy="1051560"/>
          </a:xfrm>
          <a:prstGeom prst="roundRect">
            <a:avLst>
              <a:gd name="adj" fmla="val 10435"/>
            </a:avLst>
          </a:prstGeom>
          <a:solidFill>
            <a:schemeClr val="bg2"/>
          </a:solidFill>
          <a:ln w="12700">
            <a:solidFill>
              <a:schemeClr val="bg2"/>
            </a:solidFill>
            <a:prstDash val="solid"/>
          </a:ln>
        </p:spPr>
      </p:sp>
      <p:sp>
        <p:nvSpPr>
          <p:cNvPr id="10" name="Text 8"/>
          <p:cNvSpPr txBox="1"/>
          <p:nvPr/>
        </p:nvSpPr>
        <p:spPr>
          <a:xfrm>
            <a:off x="6803136" y="109728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study  →  </a:t>
            </a:r>
            <a:pPr algn="ctr" indent="0" marL="0">
              <a:buNone/>
            </a:pPr>
            <a:r>
              <a:rPr lang="en-US" sz="1800" b="1" dirty="0">
                <a:solidFill>
                  <a:schemeClr val="accent4"/>
                </a:solidFill>
              </a:rPr>
              <a:t>abroad</a:t>
            </a:r>
            <a:endParaRPr lang="en-US" sz="1800" dirty="0"/>
          </a:p>
        </p:txBody>
      </p:sp>
      <p:sp>
        <p:nvSpPr>
          <p:cNvPr id="11" name="card"/>
          <p:cNvSpPr/>
          <p:nvPr/>
        </p:nvSpPr>
        <p:spPr>
          <a:xfrm>
            <a:off x="457200" y="2286000"/>
            <a:ext cx="1938528" cy="1051560"/>
          </a:xfrm>
          <a:prstGeom prst="roundRect">
            <a:avLst>
              <a:gd name="adj" fmla="val 10435"/>
            </a:avLst>
          </a:prstGeom>
          <a:solidFill>
            <a:schemeClr val="bg2"/>
          </a:solidFill>
          <a:ln w="12700">
            <a:solidFill>
              <a:schemeClr val="bg2"/>
            </a:solidFill>
            <a:prstDash val="solid"/>
          </a:ln>
        </p:spPr>
      </p:sp>
      <p:sp>
        <p:nvSpPr>
          <p:cNvPr id="12" name="Text 10"/>
          <p:cNvSpPr txBox="1"/>
          <p:nvPr/>
        </p:nvSpPr>
        <p:spPr>
          <a:xfrm>
            <a:off x="548640"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make  →  </a:t>
            </a:r>
            <a:pPr algn="ctr" indent="0" marL="0">
              <a:buNone/>
            </a:pPr>
            <a:r>
              <a:rPr lang="en-US" sz="1800" b="1" dirty="0">
                <a:solidFill>
                  <a:schemeClr val="accent5"/>
                </a:solidFill>
              </a:rPr>
              <a:t>friends</a:t>
            </a:r>
            <a:endParaRPr lang="en-US" sz="1800" dirty="0"/>
          </a:p>
        </p:txBody>
      </p:sp>
      <p:sp>
        <p:nvSpPr>
          <p:cNvPr id="13" name="card"/>
          <p:cNvSpPr/>
          <p:nvPr/>
        </p:nvSpPr>
        <p:spPr>
          <a:xfrm>
            <a:off x="2542032" y="2286000"/>
            <a:ext cx="1938528" cy="1051560"/>
          </a:xfrm>
          <a:prstGeom prst="roundRect">
            <a:avLst>
              <a:gd name="adj" fmla="val 10435"/>
            </a:avLst>
          </a:prstGeom>
          <a:solidFill>
            <a:schemeClr val="bg2"/>
          </a:solidFill>
          <a:ln w="12700">
            <a:solidFill>
              <a:schemeClr val="bg2"/>
            </a:solidFill>
            <a:prstDash val="solid"/>
          </a:ln>
        </p:spPr>
      </p:sp>
      <p:sp>
        <p:nvSpPr>
          <p:cNvPr id="14" name="Text 12"/>
          <p:cNvSpPr txBox="1"/>
          <p:nvPr/>
        </p:nvSpPr>
        <p:spPr>
          <a:xfrm>
            <a:off x="2633472"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learn  →  </a:t>
            </a:r>
            <a:pPr algn="ctr" indent="0" marL="0">
              <a:buNone/>
            </a:pPr>
            <a:r>
              <a:rPr lang="en-US" sz="1800" b="1" dirty="0">
                <a:solidFill>
                  <a:schemeClr val="tx2"/>
                </a:solidFill>
              </a:rPr>
              <a:t>to drive</a:t>
            </a:r>
            <a:endParaRPr lang="en-US" sz="1800" dirty="0"/>
          </a:p>
        </p:txBody>
      </p:sp>
      <p:sp>
        <p:nvSpPr>
          <p:cNvPr id="15" name="card"/>
          <p:cNvSpPr/>
          <p:nvPr/>
        </p:nvSpPr>
        <p:spPr>
          <a:xfrm>
            <a:off x="4626864" y="2286000"/>
            <a:ext cx="1938528" cy="1051560"/>
          </a:xfrm>
          <a:prstGeom prst="roundRect">
            <a:avLst>
              <a:gd name="adj" fmla="val 10435"/>
            </a:avLst>
          </a:prstGeom>
          <a:solidFill>
            <a:schemeClr val="bg2"/>
          </a:solidFill>
          <a:ln w="12700">
            <a:solidFill>
              <a:schemeClr val="bg2"/>
            </a:solidFill>
            <a:prstDash val="solid"/>
          </a:ln>
        </p:spPr>
      </p:sp>
      <p:sp>
        <p:nvSpPr>
          <p:cNvPr id="16" name="Text 14"/>
          <p:cNvSpPr txBox="1"/>
          <p:nvPr/>
        </p:nvSpPr>
        <p:spPr>
          <a:xfrm>
            <a:off x="4718304"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build  →  </a:t>
            </a:r>
            <a:pPr algn="ctr" indent="0" marL="0">
              <a:buNone/>
            </a:pPr>
            <a:r>
              <a:rPr lang="en-US" sz="1800" b="1" dirty="0">
                <a:solidFill>
                  <a:schemeClr val="accent1"/>
                </a:solidFill>
              </a:rPr>
              <a:t>a house</a:t>
            </a:r>
            <a:endParaRPr lang="en-US" sz="1800" dirty="0"/>
          </a:p>
        </p:txBody>
      </p:sp>
      <p:sp>
        <p:nvSpPr>
          <p:cNvPr id="17" name="card"/>
          <p:cNvSpPr/>
          <p:nvPr/>
        </p:nvSpPr>
        <p:spPr>
          <a:xfrm>
            <a:off x="6711696" y="2286000"/>
            <a:ext cx="1938528" cy="1051560"/>
          </a:xfrm>
          <a:prstGeom prst="roundRect">
            <a:avLst>
              <a:gd name="adj" fmla="val 10435"/>
            </a:avLst>
          </a:prstGeom>
          <a:solidFill>
            <a:schemeClr val="bg2"/>
          </a:solidFill>
          <a:ln w="12700">
            <a:solidFill>
              <a:schemeClr val="bg2"/>
            </a:solidFill>
            <a:prstDash val="solid"/>
          </a:ln>
        </p:spPr>
      </p:sp>
      <p:sp>
        <p:nvSpPr>
          <p:cNvPr id="18" name="Text 16"/>
          <p:cNvSpPr txBox="1"/>
          <p:nvPr/>
        </p:nvSpPr>
        <p:spPr>
          <a:xfrm>
            <a:off x="6803136" y="228600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join  →  </a:t>
            </a:r>
            <a:pPr algn="ctr" indent="0" marL="0">
              <a:buNone/>
            </a:pPr>
            <a:r>
              <a:rPr lang="en-US" sz="1800" b="1" dirty="0">
                <a:solidFill>
                  <a:schemeClr val="accent2"/>
                </a:solidFill>
              </a:rPr>
              <a:t>a club</a:t>
            </a:r>
            <a:endParaRPr lang="en-US" sz="1800" dirty="0"/>
          </a:p>
        </p:txBody>
      </p:sp>
      <p:sp>
        <p:nvSpPr>
          <p:cNvPr id="19" name="card"/>
          <p:cNvSpPr/>
          <p:nvPr/>
        </p:nvSpPr>
        <p:spPr>
          <a:xfrm>
            <a:off x="457200" y="3474720"/>
            <a:ext cx="1938528" cy="1051560"/>
          </a:xfrm>
          <a:prstGeom prst="roundRect">
            <a:avLst>
              <a:gd name="adj" fmla="val 10435"/>
            </a:avLst>
          </a:prstGeom>
          <a:solidFill>
            <a:schemeClr val="bg2"/>
          </a:solidFill>
          <a:ln w="12700">
            <a:solidFill>
              <a:schemeClr val="bg2"/>
            </a:solidFill>
            <a:prstDash val="solid"/>
          </a:ln>
        </p:spPr>
      </p:sp>
      <p:sp>
        <p:nvSpPr>
          <p:cNvPr id="20" name="Text 18"/>
          <p:cNvSpPr txBox="1"/>
          <p:nvPr/>
        </p:nvSpPr>
        <p:spPr>
          <a:xfrm>
            <a:off x="548640"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take  →  </a:t>
            </a:r>
            <a:pPr algn="ctr" indent="0" marL="0">
              <a:buNone/>
            </a:pPr>
            <a:r>
              <a:rPr lang="en-US" sz="1800" b="1" dirty="0">
                <a:solidFill>
                  <a:schemeClr val="accent3"/>
                </a:solidFill>
              </a:rPr>
              <a:t>a course</a:t>
            </a:r>
            <a:endParaRPr lang="en-US" sz="1800" dirty="0"/>
          </a:p>
        </p:txBody>
      </p:sp>
      <p:sp>
        <p:nvSpPr>
          <p:cNvPr id="21" name="card"/>
          <p:cNvSpPr/>
          <p:nvPr/>
        </p:nvSpPr>
        <p:spPr>
          <a:xfrm>
            <a:off x="2542032" y="3474720"/>
            <a:ext cx="1938528" cy="1051560"/>
          </a:xfrm>
          <a:prstGeom prst="roundRect">
            <a:avLst>
              <a:gd name="adj" fmla="val 10435"/>
            </a:avLst>
          </a:prstGeom>
          <a:solidFill>
            <a:schemeClr val="bg2"/>
          </a:solidFill>
          <a:ln w="12700">
            <a:solidFill>
              <a:schemeClr val="bg2"/>
            </a:solidFill>
            <a:prstDash val="solid"/>
          </a:ln>
        </p:spPr>
      </p:sp>
      <p:sp>
        <p:nvSpPr>
          <p:cNvPr id="22" name="Text 20"/>
          <p:cNvSpPr txBox="1"/>
          <p:nvPr/>
        </p:nvSpPr>
        <p:spPr>
          <a:xfrm>
            <a:off x="2633472"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open  →  </a:t>
            </a:r>
            <a:pPr algn="ctr" indent="0" marL="0">
              <a:buNone/>
            </a:pPr>
            <a:r>
              <a:rPr lang="en-US" sz="1800" b="1" dirty="0">
                <a:solidFill>
                  <a:schemeClr val="accent4"/>
                </a:solidFill>
              </a:rPr>
              <a:t>a shop</a:t>
            </a:r>
            <a:endParaRPr lang="en-US" sz="1800" dirty="0"/>
          </a:p>
        </p:txBody>
      </p:sp>
      <p:sp>
        <p:nvSpPr>
          <p:cNvPr id="23" name="card"/>
          <p:cNvSpPr/>
          <p:nvPr/>
        </p:nvSpPr>
        <p:spPr>
          <a:xfrm>
            <a:off x="4626864" y="3474720"/>
            <a:ext cx="1938528" cy="1051560"/>
          </a:xfrm>
          <a:prstGeom prst="roundRect">
            <a:avLst>
              <a:gd name="adj" fmla="val 10435"/>
            </a:avLst>
          </a:prstGeom>
          <a:solidFill>
            <a:schemeClr val="bg2"/>
          </a:solidFill>
          <a:ln w="12700">
            <a:solidFill>
              <a:schemeClr val="bg2"/>
            </a:solidFill>
            <a:prstDash val="solid"/>
          </a:ln>
        </p:spPr>
      </p:sp>
      <p:sp>
        <p:nvSpPr>
          <p:cNvPr id="24" name="Text 22"/>
          <p:cNvSpPr txBox="1"/>
          <p:nvPr/>
        </p:nvSpPr>
        <p:spPr>
          <a:xfrm>
            <a:off x="4718304"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travel  →  </a:t>
            </a:r>
            <a:pPr algn="ctr" indent="0" marL="0">
              <a:buNone/>
            </a:pPr>
            <a:r>
              <a:rPr lang="en-US" sz="1800" b="1" dirty="0">
                <a:solidFill>
                  <a:schemeClr val="accent5"/>
                </a:solidFill>
              </a:rPr>
              <a:t>abroad</a:t>
            </a:r>
            <a:endParaRPr lang="en-US" sz="1800" dirty="0"/>
          </a:p>
        </p:txBody>
      </p:sp>
      <p:sp>
        <p:nvSpPr>
          <p:cNvPr id="25" name="card"/>
          <p:cNvSpPr/>
          <p:nvPr/>
        </p:nvSpPr>
        <p:spPr>
          <a:xfrm>
            <a:off x="6711696" y="3474720"/>
            <a:ext cx="1938528" cy="1051560"/>
          </a:xfrm>
          <a:prstGeom prst="roundRect">
            <a:avLst>
              <a:gd name="adj" fmla="val 10435"/>
            </a:avLst>
          </a:prstGeom>
          <a:solidFill>
            <a:schemeClr val="bg2"/>
          </a:solidFill>
          <a:ln w="12700">
            <a:solidFill>
              <a:schemeClr val="bg2"/>
            </a:solidFill>
            <a:prstDash val="solid"/>
          </a:ln>
        </p:spPr>
      </p:sp>
      <p:sp>
        <p:nvSpPr>
          <p:cNvPr id="26" name="Text 24"/>
          <p:cNvSpPr txBox="1"/>
          <p:nvPr/>
        </p:nvSpPr>
        <p:spPr>
          <a:xfrm>
            <a:off x="6803136" y="3474720"/>
            <a:ext cx="1755648" cy="1051560"/>
          </a:xfrm>
          <a:prstGeom prst="rect">
            <a:avLst/>
          </a:prstGeom>
          <a:noFill/>
          <a:ln/>
        </p:spPr>
        <p:txBody>
          <a:bodyPr wrap="square" lIns="0" tIns="0" rIns="0" bIns="0" rtlCol="0" anchor="ctr"/>
          <a:lstStyle/>
          <a:p>
            <a:pPr algn="ctr" indent="0" marL="0">
              <a:buNone/>
            </a:pPr>
            <a:r>
              <a:rPr lang="en-US" sz="1800" dirty="0">
                <a:solidFill>
                  <a:schemeClr val="tx1"/>
                </a:solidFill>
              </a:rPr>
              <a:t>find  →  </a:t>
            </a:r>
            <a:pPr algn="ctr" indent="0" marL="0">
              <a:buNone/>
            </a:pPr>
            <a:r>
              <a:rPr lang="en-US" sz="1800" b="1" dirty="0">
                <a:solidFill>
                  <a:schemeClr val="tx2"/>
                </a:solidFill>
              </a:rPr>
              <a:t>a flat</a:t>
            </a:r>
            <a:endParaRPr lang="en-US" sz="18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lIns="0" tIns="0" rIns="0" bIns="0" rtlCol="0"/>
          <a:lstStyle/>
          <a:p>
            <a:pPr indent="0" marL="0">
              <a:buNone/>
            </a:pPr>
            <a:r>
              <a:rPr lang="en-US" sz="1800" b="1" dirty="0">
                <a:solidFill>
                  <a:schemeClr val="tx2"/>
                </a:solidFill>
              </a:rPr>
              <a:t>PART 2</a:t>
            </a: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lIns="0" tIns="0" rIns="0" bIns="0" rtlCol="0" anchor="t"/>
          <a:lstStyle/>
          <a:p>
            <a:pPr algn="l" indent="0" marL="0">
              <a:buNone/>
            </a:pPr>
            <a:r>
              <a:rPr lang="en-US" sz="4000" b="1" dirty="0">
                <a:solidFill>
                  <a:schemeClr val="bg1"/>
                </a:solidFill>
              </a:rPr>
              <a:t>Dialogues</a:t>
            </a: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lIns="0" tIns="0" rIns="0" bIns="0" rtlCol="0" anchor="t"/>
          <a:lstStyle/>
          <a:p>
            <a:pPr indent="0" marL="0">
              <a:buNone/>
            </a:pPr>
            <a:r>
              <a:rPr lang="en-US" sz="1800" dirty="0">
                <a:solidFill>
                  <a:schemeClr val="bg1"/>
                </a:solidFill>
              </a:rPr>
              <a:t>Listen, read and act out six real-life situations</a:t>
            </a:r>
            <a:endParaRPr lang="en-US" sz="1800" dirty="0"/>
          </a:p>
        </p:txBody>
      </p:sp>
      <p:sp>
        <p:nvSpPr>
          <p:cNvPr id="5" name="divider circle"/>
          <p:cNvSpPr/>
          <p:nvPr/>
        </p:nvSpPr>
        <p:spPr>
          <a:xfrm>
            <a:off x="6400800" y="1417320"/>
            <a:ext cx="2194560" cy="2194560"/>
          </a:xfrm>
          <a:prstGeom prst="ellipse">
            <a:avLst/>
          </a:prstGeom>
          <a:solidFill>
            <a:schemeClr val="bg1"/>
          </a:solidFill>
          <a:ln w="12700">
            <a:solidFill>
              <a:schemeClr val="bg1"/>
            </a:solidFill>
            <a:prstDash val="solid"/>
          </a:ln>
        </p:spPr>
      </p:sp>
      <p:sp>
        <p:nvSpPr>
          <p:cNvPr id="6" name="divider inner"/>
          <p:cNvSpPr/>
          <p:nvPr/>
        </p:nvSpPr>
        <p:spPr>
          <a:xfrm>
            <a:off x="6629400" y="1645920"/>
            <a:ext cx="1737360" cy="1737360"/>
          </a:xfrm>
          <a:prstGeom prst="ellipse">
            <a:avLst/>
          </a:prstGeom>
          <a:solidFill>
            <a:schemeClr val="tx2"/>
          </a:solidFill>
          <a:ln w="12700">
            <a:solidFill>
              <a:schemeClr val="tx2"/>
            </a:solidFill>
            <a:prstDash val="solid"/>
          </a:ln>
        </p:spPr>
      </p:sp>
      <p:pic>
        <p:nvPicPr>
          <p:cNvPr id="7" name="divider icon" descr="preencoded.png">    </p:cNvPr>
          <p:cNvPicPr>
            <a:picLocks noChangeAspect="1"/>
          </p:cNvPicPr>
          <p:nvPr/>
        </p:nvPicPr>
        <p:blipFill>
          <a:blip r:embed="rId4"/>
          <a:stretch>
            <a:fillRect/>
          </a:stretch>
        </p:blipFill>
        <p:spPr>
          <a:xfrm>
            <a:off x="7040880" y="2057400"/>
            <a:ext cx="914400" cy="914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1: Making Weekend Plans</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685800" y="1325880"/>
            <a:ext cx="4709160" cy="3154680"/>
          </a:xfrm>
          <a:prstGeom prst="rect">
            <a:avLst/>
          </a:prstGeom>
          <a:noFill/>
          <a:ln/>
        </p:spPr>
        <p:txBody>
          <a:bodyPr wrap="square" lIns="0" tIns="0" rIns="0" bIns="0" rtlCol="0" anchor="t"/>
          <a:lstStyle/>
          <a:p>
            <a:pPr indent="0" marL="0">
              <a:buNone/>
            </a:pPr>
            <a:r>
              <a:rPr lang="en-US" sz="1500" b="1" dirty="0">
                <a:solidFill>
                  <a:schemeClr val="accent1"/>
                </a:solidFill>
              </a:rPr>
              <a:t>Sami:  </a:t>
            </a:r>
            <a:pPr indent="0" marL="0">
              <a:spcAft>
                <a:spcPts val="1000"/>
              </a:spcAft>
              <a:buNone/>
            </a:pPr>
            <a:r>
              <a:rPr lang="en-US" sz="1500" dirty="0">
                <a:solidFill>
                  <a:schemeClr val="tx1"/>
                </a:solidFill>
              </a:rPr>
              <a:t>Hey Lina, what are you doing on Friday evening?</a:t>
            </a:r>
            <a:endParaRPr lang="en-US" sz="1500" dirty="0"/>
          </a:p>
          <a:p>
            <a:pPr indent="0" marL="0">
              <a:buNone/>
            </a:pPr>
            <a:r>
              <a:rPr lang="en-US" sz="1500" b="1" dirty="0">
                <a:solidFill>
                  <a:schemeClr val="accent3"/>
                </a:solidFill>
              </a:rPr>
              <a:t>Lina:  </a:t>
            </a:r>
            <a:pPr indent="0" marL="0">
              <a:spcAft>
                <a:spcPts val="1000"/>
              </a:spcAft>
              <a:buNone/>
            </a:pPr>
            <a:r>
              <a:rPr lang="en-US" sz="1500" dirty="0">
                <a:solidFill>
                  <a:schemeClr val="tx1"/>
                </a:solidFill>
              </a:rPr>
              <a:t>Nothing special. Why?</a:t>
            </a:r>
            <a:endParaRPr lang="en-US" sz="1500" dirty="0"/>
          </a:p>
          <a:p>
            <a:pPr indent="0" marL="0">
              <a:buNone/>
            </a:pPr>
            <a:r>
              <a:rPr lang="en-US" sz="1500" b="1" dirty="0">
                <a:solidFill>
                  <a:schemeClr val="accent1"/>
                </a:solidFill>
              </a:rPr>
              <a:t>Sami:  </a:t>
            </a:r>
            <a:pPr indent="0" marL="0">
              <a:spcAft>
                <a:spcPts val="1000"/>
              </a:spcAft>
              <a:buNone/>
            </a:pPr>
            <a:r>
              <a:rPr lang="en-US" sz="1500" dirty="0">
                <a:solidFill>
                  <a:schemeClr val="tx1"/>
                </a:solidFill>
              </a:rPr>
              <a:t>There's a new film at the cinema. Would you like to come?</a:t>
            </a:r>
            <a:endParaRPr lang="en-US" sz="1500" dirty="0"/>
          </a:p>
          <a:p>
            <a:pPr indent="0" marL="0">
              <a:buNone/>
            </a:pPr>
            <a:r>
              <a:rPr lang="en-US" sz="1500" b="1" dirty="0">
                <a:solidFill>
                  <a:schemeClr val="accent3"/>
                </a:solidFill>
              </a:rPr>
              <a:t>Lina:  </a:t>
            </a:r>
            <a:pPr indent="0" marL="0">
              <a:spcAft>
                <a:spcPts val="1000"/>
              </a:spcAft>
              <a:buNone/>
            </a:pPr>
            <a:r>
              <a:rPr lang="en-US" sz="1500" dirty="0">
                <a:solidFill>
                  <a:schemeClr val="tx1"/>
                </a:solidFill>
              </a:rPr>
              <a:t>I'd love to! What time does it start?</a:t>
            </a:r>
            <a:endParaRPr lang="en-US" sz="1500" dirty="0"/>
          </a:p>
          <a:p>
            <a:pPr indent="0" marL="0">
              <a:buNone/>
            </a:pPr>
            <a:r>
              <a:rPr lang="en-US" sz="1500" b="1" dirty="0">
                <a:solidFill>
                  <a:schemeClr val="accent1"/>
                </a:solidFill>
              </a:rPr>
              <a:t>Sami:  </a:t>
            </a:r>
            <a:pPr indent="0" marL="0">
              <a:spcAft>
                <a:spcPts val="1000"/>
              </a:spcAft>
              <a:buNone/>
            </a:pPr>
            <a:r>
              <a:rPr lang="en-US" sz="1500" dirty="0">
                <a:solidFill>
                  <a:schemeClr val="tx1"/>
                </a:solidFill>
              </a:rPr>
              <a:t>At 7. How about meeting at 6:30 in front of the cinema?</a:t>
            </a:r>
            <a:endParaRPr lang="en-US" sz="1500" dirty="0"/>
          </a:p>
          <a:p>
            <a:pPr indent="0" marL="0">
              <a:buNone/>
            </a:pPr>
            <a:r>
              <a:rPr lang="en-US" sz="1500" b="1" dirty="0">
                <a:solidFill>
                  <a:schemeClr val="accent3"/>
                </a:solidFill>
              </a:rPr>
              <a:t>Lina:  </a:t>
            </a:r>
            <a:pPr indent="0" marL="0">
              <a:spcAft>
                <a:spcPts val="1000"/>
              </a:spcAft>
              <a:buNone/>
            </a:pPr>
            <a:r>
              <a:rPr lang="en-US" sz="1500" dirty="0">
                <a:solidFill>
                  <a:schemeClr val="tx1"/>
                </a:solidFill>
              </a:rPr>
              <a:t>Perfect. I'll buy the popcorn!</a:t>
            </a:r>
            <a:endParaRPr lang="en-US" sz="1500" dirty="0"/>
          </a:p>
          <a:p>
            <a:pPr indent="0" marL="0">
              <a:buNone/>
            </a:pPr>
            <a:r>
              <a:rPr lang="en-US" sz="1500" b="1" dirty="0">
                <a:solidFill>
                  <a:schemeClr val="accent1"/>
                </a:solidFill>
              </a:rPr>
              <a:t>Sami:  </a:t>
            </a:r>
            <a:pPr indent="0" marL="0">
              <a:spcAft>
                <a:spcPts val="1000"/>
              </a:spcAft>
              <a:buNone/>
            </a:pPr>
            <a:r>
              <a:rPr lang="en-US" sz="1500" dirty="0">
                <a:solidFill>
                  <a:schemeClr val="tx1"/>
                </a:solidFill>
              </a:rPr>
              <a:t>Great. See you on Friday!</a:t>
            </a:r>
            <a:endParaRPr lang="en-US" sz="1500" dirty="0"/>
          </a:p>
        </p:txBody>
      </p:sp>
      <p:sp>
        <p:nvSpPr>
          <p:cNvPr id="5"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6" name="Text 4"/>
          <p:cNvSpPr txBox="1"/>
          <p:nvPr/>
        </p:nvSpPr>
        <p:spPr>
          <a:xfrm>
            <a:off x="6035040" y="123444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Useful expressions</a:t>
            </a:r>
            <a:endParaRPr lang="en-US" sz="1500" dirty="0"/>
          </a:p>
        </p:txBody>
      </p:sp>
      <p:sp>
        <p:nvSpPr>
          <p:cNvPr id="7" name="Text 5"/>
          <p:cNvSpPr txBox="1"/>
          <p:nvPr/>
        </p:nvSpPr>
        <p:spPr>
          <a:xfrm>
            <a:off x="6035040" y="160020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Are you free on…?</a:t>
            </a:r>
            <a:endParaRPr lang="en-US" sz="1400" dirty="0"/>
          </a:p>
          <a:p>
            <a:pPr marL="342900" indent="-342900">
              <a:spcAft>
                <a:spcPts val="200"/>
              </a:spcAft>
              <a:buSzPct val="100000"/>
              <a:buChar char="•"/>
            </a:pPr>
            <a:r>
              <a:rPr lang="en-US" sz="1400" dirty="0">
                <a:solidFill>
                  <a:schemeClr val="bg1"/>
                </a:solidFill>
              </a:rPr>
              <a:t>Would you like to…?</a:t>
            </a:r>
            <a:endParaRPr lang="en-US" sz="1400" dirty="0"/>
          </a:p>
          <a:p>
            <a:pPr marL="342900" indent="-342900">
              <a:spcAft>
                <a:spcPts val="200"/>
              </a:spcAft>
              <a:buSzPct val="100000"/>
              <a:buChar char="•"/>
            </a:pPr>
            <a:r>
              <a:rPr lang="en-US" sz="1400" dirty="0">
                <a:solidFill>
                  <a:schemeClr val="bg1"/>
                </a:solidFill>
              </a:rPr>
              <a:t>How about + verb-ing?</a:t>
            </a:r>
            <a:endParaRPr lang="en-US" sz="1400" dirty="0"/>
          </a:p>
        </p:txBody>
      </p:sp>
      <p:sp>
        <p:nvSpPr>
          <p:cNvPr id="8" name="Text 6"/>
          <p:cNvSpPr txBox="1"/>
          <p:nvPr/>
        </p:nvSpPr>
        <p:spPr>
          <a:xfrm>
            <a:off x="6035040" y="288036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Vocabulary</a:t>
            </a:r>
            <a:endParaRPr lang="en-US" sz="1500" dirty="0"/>
          </a:p>
        </p:txBody>
      </p:sp>
      <p:sp>
        <p:nvSpPr>
          <p:cNvPr id="9" name="Text 7"/>
          <p:cNvSpPr txBox="1"/>
          <p:nvPr/>
        </p:nvSpPr>
        <p:spPr>
          <a:xfrm>
            <a:off x="6035040" y="324612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free · busy</a:t>
            </a:r>
            <a:endParaRPr lang="en-US" sz="1400" dirty="0"/>
          </a:p>
          <a:p>
            <a:pPr marL="342900" indent="-342900">
              <a:spcAft>
                <a:spcPts val="200"/>
              </a:spcAft>
              <a:buSzPct val="100000"/>
              <a:buChar char="•"/>
            </a:pPr>
            <a:r>
              <a:rPr lang="en-US" sz="1400" dirty="0">
                <a:solidFill>
                  <a:schemeClr val="bg1"/>
                </a:solidFill>
              </a:rPr>
              <a:t>invite · accept</a:t>
            </a:r>
            <a:endParaRPr lang="en-US" sz="1400" dirty="0"/>
          </a:p>
          <a:p>
            <a:pPr marL="342900" indent="-342900">
              <a:spcAft>
                <a:spcPts val="200"/>
              </a:spcAft>
              <a:buSzPct val="100000"/>
              <a:buChar char="•"/>
            </a:pPr>
            <a:r>
              <a:rPr lang="en-US" sz="1400" dirty="0">
                <a:solidFill>
                  <a:schemeClr val="bg1"/>
                </a:solidFill>
              </a:rPr>
              <a:t>meet · join</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2: Changing Plans</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685800" y="1325880"/>
            <a:ext cx="4709160" cy="3154680"/>
          </a:xfrm>
          <a:prstGeom prst="rect">
            <a:avLst/>
          </a:prstGeom>
          <a:noFill/>
          <a:ln/>
        </p:spPr>
        <p:txBody>
          <a:bodyPr wrap="square" lIns="0" tIns="0" rIns="0" bIns="0" rtlCol="0" anchor="t"/>
          <a:lstStyle/>
          <a:p>
            <a:pPr indent="0" marL="0">
              <a:buNone/>
            </a:pPr>
            <a:r>
              <a:rPr lang="en-US" sz="1500" b="1" dirty="0">
                <a:solidFill>
                  <a:schemeClr val="accent1"/>
                </a:solidFill>
              </a:rPr>
              <a:t>Lina:  </a:t>
            </a:r>
            <a:pPr indent="0" marL="0">
              <a:spcAft>
                <a:spcPts val="1000"/>
              </a:spcAft>
              <a:buNone/>
            </a:pPr>
            <a:r>
              <a:rPr lang="en-US" sz="1500" dirty="0">
                <a:solidFill>
                  <a:schemeClr val="tx1"/>
                </a:solidFill>
              </a:rPr>
              <a:t>Hi Sami, I'm really sorry, but I can't come on Friday.</a:t>
            </a:r>
            <a:endParaRPr lang="en-US" sz="1500" dirty="0"/>
          </a:p>
          <a:p>
            <a:pPr indent="0" marL="0">
              <a:buNone/>
            </a:pPr>
            <a:r>
              <a:rPr lang="en-US" sz="1500" b="1" dirty="0">
                <a:solidFill>
                  <a:schemeClr val="accent3"/>
                </a:solidFill>
              </a:rPr>
              <a:t>Sami:  </a:t>
            </a:r>
            <a:pPr indent="0" marL="0">
              <a:spcAft>
                <a:spcPts val="1000"/>
              </a:spcAft>
              <a:buNone/>
            </a:pPr>
            <a:r>
              <a:rPr lang="en-US" sz="1500" dirty="0">
                <a:solidFill>
                  <a:schemeClr val="tx1"/>
                </a:solidFill>
              </a:rPr>
              <a:t>Oh no! What happened?</a:t>
            </a:r>
            <a:endParaRPr lang="en-US" sz="1500" dirty="0"/>
          </a:p>
          <a:p>
            <a:pPr indent="0" marL="0">
              <a:buNone/>
            </a:pPr>
            <a:r>
              <a:rPr lang="en-US" sz="1500" b="1" dirty="0">
                <a:solidFill>
                  <a:schemeClr val="accent1"/>
                </a:solidFill>
              </a:rPr>
              <a:t>Lina:  </a:t>
            </a:r>
            <a:pPr indent="0" marL="0">
              <a:spcAft>
                <a:spcPts val="1000"/>
              </a:spcAft>
              <a:buNone/>
            </a:pPr>
            <a:r>
              <a:rPr lang="en-US" sz="1500" dirty="0">
                <a:solidFill>
                  <a:schemeClr val="tx1"/>
                </a:solidFill>
              </a:rPr>
              <a:t>My aunt is visiting us, and I have to stay at home.</a:t>
            </a:r>
            <a:endParaRPr lang="en-US" sz="1500" dirty="0"/>
          </a:p>
          <a:p>
            <a:pPr indent="0" marL="0">
              <a:buNone/>
            </a:pPr>
            <a:r>
              <a:rPr lang="en-US" sz="1500" b="1" dirty="0">
                <a:solidFill>
                  <a:schemeClr val="accent3"/>
                </a:solidFill>
              </a:rPr>
              <a:t>Sami:  </a:t>
            </a:r>
            <a:pPr indent="0" marL="0">
              <a:spcAft>
                <a:spcPts val="1000"/>
              </a:spcAft>
              <a:buNone/>
            </a:pPr>
            <a:r>
              <a:rPr lang="en-US" sz="1500" dirty="0">
                <a:solidFill>
                  <a:schemeClr val="tx1"/>
                </a:solidFill>
              </a:rPr>
              <a:t>Don't worry. Are you free on Saturday instead?</a:t>
            </a:r>
            <a:endParaRPr lang="en-US" sz="1500" dirty="0"/>
          </a:p>
          <a:p>
            <a:pPr indent="0" marL="0">
              <a:buNone/>
            </a:pPr>
            <a:r>
              <a:rPr lang="en-US" sz="1500" b="1" dirty="0">
                <a:solidFill>
                  <a:schemeClr val="accent1"/>
                </a:solidFill>
              </a:rPr>
              <a:t>Lina:  </a:t>
            </a:r>
            <a:pPr indent="0" marL="0">
              <a:spcAft>
                <a:spcPts val="1000"/>
              </a:spcAft>
              <a:buNone/>
            </a:pPr>
            <a:r>
              <a:rPr lang="en-US" sz="1500" dirty="0">
                <a:solidFill>
                  <a:schemeClr val="tx1"/>
                </a:solidFill>
              </a:rPr>
              <a:t>Yes, I'm not doing anything on Saturday.</a:t>
            </a:r>
            <a:endParaRPr lang="en-US" sz="1500" dirty="0"/>
          </a:p>
          <a:p>
            <a:pPr indent="0" marL="0">
              <a:buNone/>
            </a:pPr>
            <a:r>
              <a:rPr lang="en-US" sz="1500" b="1" dirty="0">
                <a:solidFill>
                  <a:schemeClr val="accent3"/>
                </a:solidFill>
              </a:rPr>
              <a:t>Sami:  </a:t>
            </a:r>
            <a:pPr indent="0" marL="0">
              <a:spcAft>
                <a:spcPts val="1000"/>
              </a:spcAft>
              <a:buNone/>
            </a:pPr>
            <a:r>
              <a:rPr lang="en-US" sz="1500" dirty="0">
                <a:solidFill>
                  <a:schemeClr val="tx1"/>
                </a:solidFill>
              </a:rPr>
              <a:t>OK, let's go on Saturday at 5, then.</a:t>
            </a:r>
            <a:endParaRPr lang="en-US" sz="1500" dirty="0"/>
          </a:p>
          <a:p>
            <a:pPr indent="0" marL="0">
              <a:buNone/>
            </a:pPr>
            <a:r>
              <a:rPr lang="en-US" sz="1500" b="1" dirty="0">
                <a:solidFill>
                  <a:schemeClr val="accent1"/>
                </a:solidFill>
              </a:rPr>
              <a:t>Lina:  </a:t>
            </a:r>
            <a:pPr indent="0" marL="0">
              <a:spcAft>
                <a:spcPts val="1000"/>
              </a:spcAft>
              <a:buNone/>
            </a:pPr>
            <a:r>
              <a:rPr lang="en-US" sz="1500" dirty="0">
                <a:solidFill>
                  <a:schemeClr val="tx1"/>
                </a:solidFill>
              </a:rPr>
              <a:t>Thanks for understanding. I'll call you tomorrow.</a:t>
            </a:r>
            <a:endParaRPr lang="en-US" sz="1500" dirty="0"/>
          </a:p>
        </p:txBody>
      </p:sp>
      <p:sp>
        <p:nvSpPr>
          <p:cNvPr id="5"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6" name="Text 4"/>
          <p:cNvSpPr txBox="1"/>
          <p:nvPr/>
        </p:nvSpPr>
        <p:spPr>
          <a:xfrm>
            <a:off x="6035040" y="123444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Useful expressions</a:t>
            </a:r>
            <a:endParaRPr lang="en-US" sz="1500" dirty="0"/>
          </a:p>
        </p:txBody>
      </p:sp>
      <p:sp>
        <p:nvSpPr>
          <p:cNvPr id="7" name="Text 5"/>
          <p:cNvSpPr txBox="1"/>
          <p:nvPr/>
        </p:nvSpPr>
        <p:spPr>
          <a:xfrm>
            <a:off x="6035040" y="160020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I'm sorry, but…</a:t>
            </a:r>
            <a:endParaRPr lang="en-US" sz="1400" dirty="0"/>
          </a:p>
          <a:p>
            <a:pPr marL="342900" indent="-342900">
              <a:spcAft>
                <a:spcPts val="200"/>
              </a:spcAft>
              <a:buSzPct val="100000"/>
              <a:buChar char="•"/>
            </a:pPr>
            <a:r>
              <a:rPr lang="en-US" sz="1400" dirty="0">
                <a:solidFill>
                  <a:schemeClr val="bg1"/>
                </a:solidFill>
              </a:rPr>
              <a:t>I can't make it.</a:t>
            </a:r>
            <a:endParaRPr lang="en-US" sz="1400" dirty="0"/>
          </a:p>
          <a:p>
            <a:pPr marL="342900" indent="-342900">
              <a:spcAft>
                <a:spcPts val="200"/>
              </a:spcAft>
              <a:buSzPct val="100000"/>
              <a:buChar char="•"/>
            </a:pPr>
            <a:r>
              <a:rPr lang="en-US" sz="1400" dirty="0">
                <a:solidFill>
                  <a:schemeClr val="bg1"/>
                </a:solidFill>
              </a:rPr>
              <a:t>How about… instead?</a:t>
            </a:r>
            <a:endParaRPr lang="en-US" sz="1400" dirty="0"/>
          </a:p>
        </p:txBody>
      </p:sp>
      <p:sp>
        <p:nvSpPr>
          <p:cNvPr id="8" name="Text 6"/>
          <p:cNvSpPr txBox="1"/>
          <p:nvPr/>
        </p:nvSpPr>
        <p:spPr>
          <a:xfrm>
            <a:off x="6035040" y="288036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Vocabulary</a:t>
            </a:r>
            <a:endParaRPr lang="en-US" sz="1500" dirty="0"/>
          </a:p>
        </p:txBody>
      </p:sp>
      <p:sp>
        <p:nvSpPr>
          <p:cNvPr id="9" name="Text 7"/>
          <p:cNvSpPr txBox="1"/>
          <p:nvPr/>
        </p:nvSpPr>
        <p:spPr>
          <a:xfrm>
            <a:off x="6035040" y="324612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cancel · postpone</a:t>
            </a:r>
            <a:endParaRPr lang="en-US" sz="1400" dirty="0"/>
          </a:p>
          <a:p>
            <a:pPr marL="342900" indent="-342900">
              <a:spcAft>
                <a:spcPts val="200"/>
              </a:spcAft>
              <a:buSzPct val="100000"/>
              <a:buChar char="•"/>
            </a:pPr>
            <a:r>
              <a:rPr lang="en-US" sz="1400" dirty="0">
                <a:solidFill>
                  <a:schemeClr val="bg1"/>
                </a:solidFill>
              </a:rPr>
              <a:t>instead · apologise</a:t>
            </a:r>
            <a:endParaRPr lang="en-US" sz="1400" dirty="0"/>
          </a:p>
          <a:p>
            <a:pPr marL="342900" indent="-342900">
              <a:spcAft>
                <a:spcPts val="200"/>
              </a:spcAft>
              <a:buSzPct val="100000"/>
              <a:buChar char="•"/>
            </a:pPr>
            <a:r>
              <a:rPr lang="en-US" sz="1400" dirty="0">
                <a:solidFill>
                  <a:schemeClr val="bg1"/>
                </a:solidFill>
              </a:rPr>
              <a:t>Never mind!</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3: At the Travel Agency</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685800" y="1325880"/>
            <a:ext cx="4709160" cy="3154680"/>
          </a:xfrm>
          <a:prstGeom prst="rect">
            <a:avLst/>
          </a:prstGeom>
          <a:noFill/>
          <a:ln/>
        </p:spPr>
        <p:txBody>
          <a:bodyPr wrap="square" lIns="0" tIns="0" rIns="0" bIns="0" rtlCol="0" anchor="t"/>
          <a:lstStyle/>
          <a:p>
            <a:pPr indent="0" marL="0">
              <a:buNone/>
            </a:pPr>
            <a:r>
              <a:rPr lang="en-US" sz="1500" b="1" dirty="0">
                <a:solidFill>
                  <a:schemeClr val="accent1"/>
                </a:solidFill>
              </a:rPr>
              <a:t>Agent:  </a:t>
            </a:r>
            <a:pPr indent="0" marL="0">
              <a:spcAft>
                <a:spcPts val="1000"/>
              </a:spcAft>
              <a:buNone/>
            </a:pPr>
            <a:r>
              <a:rPr lang="en-US" sz="1500" dirty="0">
                <a:solidFill>
                  <a:schemeClr val="tx1"/>
                </a:solidFill>
              </a:rPr>
              <a:t>Good morning. How can I help you?</a:t>
            </a:r>
            <a:endParaRPr lang="en-US" sz="1500" dirty="0"/>
          </a:p>
          <a:p>
            <a:pPr indent="0" marL="0">
              <a:buNone/>
            </a:pPr>
            <a:r>
              <a:rPr lang="en-US" sz="1500" b="1" dirty="0">
                <a:solidFill>
                  <a:schemeClr val="accent3"/>
                </a:solidFill>
              </a:rPr>
              <a:t>Client:  </a:t>
            </a:r>
            <a:pPr indent="0" marL="0">
              <a:spcAft>
                <a:spcPts val="1000"/>
              </a:spcAft>
              <a:buNone/>
            </a:pPr>
            <a:r>
              <a:rPr lang="en-US" sz="1500" dirty="0">
                <a:solidFill>
                  <a:schemeClr val="tx1"/>
                </a:solidFill>
              </a:rPr>
              <a:t>I'm going to visit Istanbul in July. I'd like to book a flight.</a:t>
            </a:r>
            <a:endParaRPr lang="en-US" sz="1500" dirty="0"/>
          </a:p>
          <a:p>
            <a:pPr indent="0" marL="0">
              <a:buNone/>
            </a:pPr>
            <a:r>
              <a:rPr lang="en-US" sz="1500" b="1" dirty="0">
                <a:solidFill>
                  <a:schemeClr val="accent1"/>
                </a:solidFill>
              </a:rPr>
              <a:t>Agent:  </a:t>
            </a:r>
            <a:pPr indent="0" marL="0">
              <a:spcAft>
                <a:spcPts val="1000"/>
              </a:spcAft>
              <a:buNone/>
            </a:pPr>
            <a:r>
              <a:rPr lang="en-US" sz="1500" dirty="0">
                <a:solidFill>
                  <a:schemeClr val="tx1"/>
                </a:solidFill>
              </a:rPr>
              <a:t>Certainly. When are you leaving?</a:t>
            </a:r>
            <a:endParaRPr lang="en-US" sz="1500" dirty="0"/>
          </a:p>
          <a:p>
            <a:pPr indent="0" marL="0">
              <a:buNone/>
            </a:pPr>
            <a:r>
              <a:rPr lang="en-US" sz="1500" b="1" dirty="0">
                <a:solidFill>
                  <a:schemeClr val="accent3"/>
                </a:solidFill>
              </a:rPr>
              <a:t>Client:  </a:t>
            </a:r>
            <a:pPr indent="0" marL="0">
              <a:spcAft>
                <a:spcPts val="1000"/>
              </a:spcAft>
              <a:buNone/>
            </a:pPr>
            <a:r>
              <a:rPr lang="en-US" sz="1500" dirty="0">
                <a:solidFill>
                  <a:schemeClr val="tx1"/>
                </a:solidFill>
              </a:rPr>
              <a:t>On the 5th of July, and I'm coming back on the 15th.</a:t>
            </a:r>
            <a:endParaRPr lang="en-US" sz="1500" dirty="0"/>
          </a:p>
          <a:p>
            <a:pPr indent="0" marL="0">
              <a:buNone/>
            </a:pPr>
            <a:r>
              <a:rPr lang="en-US" sz="1500" b="1" dirty="0">
                <a:solidFill>
                  <a:schemeClr val="accent1"/>
                </a:solidFill>
              </a:rPr>
              <a:t>Agent:  </a:t>
            </a:r>
            <a:pPr indent="0" marL="0">
              <a:spcAft>
                <a:spcPts val="1000"/>
              </a:spcAft>
              <a:buNone/>
            </a:pPr>
            <a:r>
              <a:rPr lang="en-US" sz="1500" dirty="0">
                <a:solidFill>
                  <a:schemeClr val="tx1"/>
                </a:solidFill>
              </a:rPr>
              <a:t>There's a flight at 9 a.m. It costs 45,000 dinars.</a:t>
            </a:r>
            <a:endParaRPr lang="en-US" sz="1500" dirty="0"/>
          </a:p>
          <a:p>
            <a:pPr indent="0" marL="0">
              <a:buNone/>
            </a:pPr>
            <a:r>
              <a:rPr lang="en-US" sz="1500" b="1" dirty="0">
                <a:solidFill>
                  <a:schemeClr val="accent3"/>
                </a:solidFill>
              </a:rPr>
              <a:t>Client:  </a:t>
            </a:r>
            <a:pPr indent="0" marL="0">
              <a:spcAft>
                <a:spcPts val="1000"/>
              </a:spcAft>
              <a:buNone/>
            </a:pPr>
            <a:r>
              <a:rPr lang="en-US" sz="1500" dirty="0">
                <a:solidFill>
                  <a:schemeClr val="tx1"/>
                </a:solidFill>
              </a:rPr>
              <a:t>That's fine. I'll take it. Can I pay by card?</a:t>
            </a:r>
            <a:endParaRPr lang="en-US" sz="1500" dirty="0"/>
          </a:p>
          <a:p>
            <a:pPr indent="0" marL="0">
              <a:buNone/>
            </a:pPr>
            <a:r>
              <a:rPr lang="en-US" sz="1500" b="1" dirty="0">
                <a:solidFill>
                  <a:schemeClr val="accent1"/>
                </a:solidFill>
              </a:rPr>
              <a:t>Agent:  </a:t>
            </a:r>
            <a:pPr indent="0" marL="0">
              <a:spcAft>
                <a:spcPts val="1000"/>
              </a:spcAft>
              <a:buNone/>
            </a:pPr>
            <a:r>
              <a:rPr lang="en-US" sz="1500" dirty="0">
                <a:solidFill>
                  <a:schemeClr val="tx1"/>
                </a:solidFill>
              </a:rPr>
              <a:t>Of course. Here's your ticket. Have a nice trip!</a:t>
            </a:r>
            <a:endParaRPr lang="en-US" sz="1500" dirty="0"/>
          </a:p>
        </p:txBody>
      </p:sp>
      <p:sp>
        <p:nvSpPr>
          <p:cNvPr id="5"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6" name="Text 4"/>
          <p:cNvSpPr txBox="1"/>
          <p:nvPr/>
        </p:nvSpPr>
        <p:spPr>
          <a:xfrm>
            <a:off x="6035040" y="123444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Useful expressions</a:t>
            </a:r>
            <a:endParaRPr lang="en-US" sz="1500" dirty="0"/>
          </a:p>
        </p:txBody>
      </p:sp>
      <p:sp>
        <p:nvSpPr>
          <p:cNvPr id="7" name="Text 5"/>
          <p:cNvSpPr txBox="1"/>
          <p:nvPr/>
        </p:nvSpPr>
        <p:spPr>
          <a:xfrm>
            <a:off x="6035040" y="160020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I'd like to book…</a:t>
            </a:r>
            <a:endParaRPr lang="en-US" sz="1400" dirty="0"/>
          </a:p>
          <a:p>
            <a:pPr marL="342900" indent="-342900">
              <a:spcAft>
                <a:spcPts val="200"/>
              </a:spcAft>
              <a:buSzPct val="100000"/>
              <a:buChar char="•"/>
            </a:pPr>
            <a:r>
              <a:rPr lang="en-US" sz="1400" dirty="0">
                <a:solidFill>
                  <a:schemeClr val="bg1"/>
                </a:solidFill>
              </a:rPr>
              <a:t>How much is it?</a:t>
            </a:r>
            <a:endParaRPr lang="en-US" sz="1400" dirty="0"/>
          </a:p>
          <a:p>
            <a:pPr marL="342900" indent="-342900">
              <a:spcAft>
                <a:spcPts val="200"/>
              </a:spcAft>
              <a:buSzPct val="100000"/>
              <a:buChar char="•"/>
            </a:pPr>
            <a:r>
              <a:rPr lang="en-US" sz="1400" dirty="0">
                <a:solidFill>
                  <a:schemeClr val="bg1"/>
                </a:solidFill>
              </a:rPr>
              <a:t>Can I pay by…?</a:t>
            </a:r>
            <a:endParaRPr lang="en-US" sz="1400" dirty="0"/>
          </a:p>
        </p:txBody>
      </p:sp>
      <p:sp>
        <p:nvSpPr>
          <p:cNvPr id="8" name="Text 6"/>
          <p:cNvSpPr txBox="1"/>
          <p:nvPr/>
        </p:nvSpPr>
        <p:spPr>
          <a:xfrm>
            <a:off x="6035040" y="288036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Vocabulary</a:t>
            </a:r>
            <a:endParaRPr lang="en-US" sz="1500" dirty="0"/>
          </a:p>
        </p:txBody>
      </p:sp>
      <p:sp>
        <p:nvSpPr>
          <p:cNvPr id="9" name="Text 7"/>
          <p:cNvSpPr txBox="1"/>
          <p:nvPr/>
        </p:nvSpPr>
        <p:spPr>
          <a:xfrm>
            <a:off x="6035040" y="324612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one-way · return</a:t>
            </a:r>
            <a:endParaRPr lang="en-US" sz="1400" dirty="0"/>
          </a:p>
          <a:p>
            <a:pPr marL="342900" indent="-342900">
              <a:spcAft>
                <a:spcPts val="200"/>
              </a:spcAft>
              <a:buSzPct val="100000"/>
              <a:buChar char="•"/>
            </a:pPr>
            <a:r>
              <a:rPr lang="en-US" sz="1400" dirty="0">
                <a:solidFill>
                  <a:schemeClr val="bg1"/>
                </a:solidFill>
              </a:rPr>
              <a:t>departure · arrival</a:t>
            </a:r>
            <a:endParaRPr lang="en-US" sz="1400" dirty="0"/>
          </a:p>
          <a:p>
            <a:pPr marL="342900" indent="-342900">
              <a:spcAft>
                <a:spcPts val="200"/>
              </a:spcAft>
              <a:buSzPct val="100000"/>
              <a:buChar char="•"/>
            </a:pPr>
            <a:r>
              <a:rPr lang="en-US" sz="1400" dirty="0">
                <a:solidFill>
                  <a:schemeClr val="bg1"/>
                </a:solidFill>
              </a:rPr>
              <a:t>book · confirm</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4: Booking a Hotel by Phone</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685800" y="1325880"/>
            <a:ext cx="4709160" cy="3154680"/>
          </a:xfrm>
          <a:prstGeom prst="rect">
            <a:avLst/>
          </a:prstGeom>
          <a:noFill/>
          <a:ln/>
        </p:spPr>
        <p:txBody>
          <a:bodyPr wrap="square" lIns="0" tIns="0" rIns="0" bIns="0" rtlCol="0" anchor="t"/>
          <a:lstStyle/>
          <a:p>
            <a:pPr indent="0" marL="0">
              <a:buNone/>
            </a:pPr>
            <a:r>
              <a:rPr lang="en-US" sz="1500" b="1" dirty="0">
                <a:solidFill>
                  <a:schemeClr val="accent1"/>
                </a:solidFill>
              </a:rPr>
              <a:t>Receptionist:  </a:t>
            </a:r>
            <a:pPr indent="0" marL="0">
              <a:spcAft>
                <a:spcPts val="1000"/>
              </a:spcAft>
              <a:buNone/>
            </a:pPr>
            <a:r>
              <a:rPr lang="en-US" sz="1500" dirty="0">
                <a:solidFill>
                  <a:schemeClr val="tx1"/>
                </a:solidFill>
              </a:rPr>
              <a:t>Sea View Hotel, good afternoon.</a:t>
            </a:r>
            <a:endParaRPr lang="en-US" sz="1500" dirty="0"/>
          </a:p>
          <a:p>
            <a:pPr indent="0" marL="0">
              <a:buNone/>
            </a:pPr>
            <a:r>
              <a:rPr lang="en-US" sz="1500" b="1" dirty="0">
                <a:solidFill>
                  <a:schemeClr val="accent3"/>
                </a:solidFill>
              </a:rPr>
              <a:t>Guest:  </a:t>
            </a:r>
            <a:pPr indent="0" marL="0">
              <a:spcAft>
                <a:spcPts val="1000"/>
              </a:spcAft>
              <a:buNone/>
            </a:pPr>
            <a:r>
              <a:rPr lang="en-US" sz="1500" dirty="0">
                <a:solidFill>
                  <a:schemeClr val="tx1"/>
                </a:solidFill>
              </a:rPr>
              <a:t>Hello. I'd like to book a double room for three nights, please.</a:t>
            </a:r>
            <a:endParaRPr lang="en-US" sz="1500" dirty="0"/>
          </a:p>
          <a:p>
            <a:pPr indent="0" marL="0">
              <a:buNone/>
            </a:pPr>
            <a:r>
              <a:rPr lang="en-US" sz="1500" b="1" dirty="0">
                <a:solidFill>
                  <a:schemeClr val="accent1"/>
                </a:solidFill>
              </a:rPr>
              <a:t>Receptionist:  </a:t>
            </a:r>
            <a:pPr indent="0" marL="0">
              <a:spcAft>
                <a:spcPts val="1000"/>
              </a:spcAft>
              <a:buNone/>
            </a:pPr>
            <a:r>
              <a:rPr lang="en-US" sz="1500" dirty="0">
                <a:solidFill>
                  <a:schemeClr val="tx1"/>
                </a:solidFill>
              </a:rPr>
              <a:t>For which dates?</a:t>
            </a:r>
            <a:endParaRPr lang="en-US" sz="1500" dirty="0"/>
          </a:p>
          <a:p>
            <a:pPr indent="0" marL="0">
              <a:buNone/>
            </a:pPr>
            <a:r>
              <a:rPr lang="en-US" sz="1500" b="1" dirty="0">
                <a:solidFill>
                  <a:schemeClr val="accent3"/>
                </a:solidFill>
              </a:rPr>
              <a:t>Guest:  </a:t>
            </a:r>
            <a:pPr indent="0" marL="0">
              <a:spcAft>
                <a:spcPts val="1000"/>
              </a:spcAft>
              <a:buNone/>
            </a:pPr>
            <a:r>
              <a:rPr lang="en-US" sz="1500" dirty="0">
                <a:solidFill>
                  <a:schemeClr val="tx1"/>
                </a:solidFill>
              </a:rPr>
              <a:t>From the 10th to the 13th of August.</a:t>
            </a:r>
            <a:endParaRPr lang="en-US" sz="1500" dirty="0"/>
          </a:p>
          <a:p>
            <a:pPr indent="0" marL="0">
              <a:buNone/>
            </a:pPr>
            <a:r>
              <a:rPr lang="en-US" sz="1500" b="1" dirty="0">
                <a:solidFill>
                  <a:schemeClr val="accent1"/>
                </a:solidFill>
              </a:rPr>
              <a:t>Receptionist:  </a:t>
            </a:r>
            <a:pPr indent="0" marL="0">
              <a:spcAft>
                <a:spcPts val="1000"/>
              </a:spcAft>
              <a:buNone/>
            </a:pPr>
            <a:r>
              <a:rPr lang="en-US" sz="1500" dirty="0">
                <a:solidFill>
                  <a:schemeClr val="tx1"/>
                </a:solidFill>
              </a:rPr>
              <a:t>We have a room with a sea view. It's 12,000 dinars a night.</a:t>
            </a:r>
            <a:endParaRPr lang="en-US" sz="1500" dirty="0"/>
          </a:p>
          <a:p>
            <a:pPr indent="0" marL="0">
              <a:buNone/>
            </a:pPr>
            <a:r>
              <a:rPr lang="en-US" sz="1500" b="1" dirty="0">
                <a:solidFill>
                  <a:schemeClr val="accent3"/>
                </a:solidFill>
              </a:rPr>
              <a:t>Guest:  </a:t>
            </a:r>
            <a:pPr indent="0" marL="0">
              <a:spcAft>
                <a:spcPts val="1000"/>
              </a:spcAft>
              <a:buNone/>
            </a:pPr>
            <a:r>
              <a:rPr lang="en-US" sz="1500" dirty="0">
                <a:solidFill>
                  <a:schemeClr val="tx1"/>
                </a:solidFill>
              </a:rPr>
              <a:t>Does that include breakfast?</a:t>
            </a:r>
            <a:endParaRPr lang="en-US" sz="1500" dirty="0"/>
          </a:p>
          <a:p>
            <a:pPr indent="0" marL="0">
              <a:buNone/>
            </a:pPr>
            <a:r>
              <a:rPr lang="en-US" sz="1500" b="1" dirty="0">
                <a:solidFill>
                  <a:schemeClr val="accent1"/>
                </a:solidFill>
              </a:rPr>
              <a:t>Receptionist:  </a:t>
            </a:r>
            <a:pPr indent="0" marL="0">
              <a:spcAft>
                <a:spcPts val="1000"/>
              </a:spcAft>
              <a:buNone/>
            </a:pPr>
            <a:r>
              <a:rPr lang="en-US" sz="1500" dirty="0">
                <a:solidFill>
                  <a:schemeClr val="tx1"/>
                </a:solidFill>
              </a:rPr>
              <a:t>Yes, it does. Can I have your name, please?</a:t>
            </a:r>
            <a:endParaRPr lang="en-US" sz="1500" dirty="0"/>
          </a:p>
        </p:txBody>
      </p:sp>
      <p:sp>
        <p:nvSpPr>
          <p:cNvPr id="5"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6" name="Text 4"/>
          <p:cNvSpPr txBox="1"/>
          <p:nvPr/>
        </p:nvSpPr>
        <p:spPr>
          <a:xfrm>
            <a:off x="6035040" y="123444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Useful expressions</a:t>
            </a:r>
            <a:endParaRPr lang="en-US" sz="1500" dirty="0"/>
          </a:p>
        </p:txBody>
      </p:sp>
      <p:sp>
        <p:nvSpPr>
          <p:cNvPr id="7" name="Text 5"/>
          <p:cNvSpPr txBox="1"/>
          <p:nvPr/>
        </p:nvSpPr>
        <p:spPr>
          <a:xfrm>
            <a:off x="6035040" y="160020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I'd like a room for…</a:t>
            </a:r>
            <a:endParaRPr lang="en-US" sz="1400" dirty="0"/>
          </a:p>
          <a:p>
            <a:pPr marL="342900" indent="-342900">
              <a:spcAft>
                <a:spcPts val="200"/>
              </a:spcAft>
              <a:buSzPct val="100000"/>
              <a:buChar char="•"/>
            </a:pPr>
            <a:r>
              <a:rPr lang="en-US" sz="1400" dirty="0">
                <a:solidFill>
                  <a:schemeClr val="bg1"/>
                </a:solidFill>
              </a:rPr>
              <a:t>Does it include…?</a:t>
            </a:r>
            <a:endParaRPr lang="en-US" sz="1400" dirty="0"/>
          </a:p>
          <a:p>
            <a:pPr marL="342900" indent="-342900">
              <a:spcAft>
                <a:spcPts val="200"/>
              </a:spcAft>
              <a:buSzPct val="100000"/>
              <a:buChar char="•"/>
            </a:pPr>
            <a:r>
              <a:rPr lang="en-US" sz="1400" dirty="0">
                <a:solidFill>
                  <a:schemeClr val="bg1"/>
                </a:solidFill>
              </a:rPr>
              <a:t>Could you spell that?</a:t>
            </a:r>
            <a:endParaRPr lang="en-US" sz="1400" dirty="0"/>
          </a:p>
        </p:txBody>
      </p:sp>
      <p:sp>
        <p:nvSpPr>
          <p:cNvPr id="8" name="Text 6"/>
          <p:cNvSpPr txBox="1"/>
          <p:nvPr/>
        </p:nvSpPr>
        <p:spPr>
          <a:xfrm>
            <a:off x="6035040" y="288036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Vocabulary</a:t>
            </a:r>
            <a:endParaRPr lang="en-US" sz="1500" dirty="0"/>
          </a:p>
        </p:txBody>
      </p:sp>
      <p:sp>
        <p:nvSpPr>
          <p:cNvPr id="9" name="Text 7"/>
          <p:cNvSpPr txBox="1"/>
          <p:nvPr/>
        </p:nvSpPr>
        <p:spPr>
          <a:xfrm>
            <a:off x="6035040" y="324612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single · double room</a:t>
            </a:r>
            <a:endParaRPr lang="en-US" sz="1400" dirty="0"/>
          </a:p>
          <a:p>
            <a:pPr marL="342900" indent="-342900">
              <a:spcAft>
                <a:spcPts val="200"/>
              </a:spcAft>
              <a:buSzPct val="100000"/>
              <a:buChar char="•"/>
            </a:pPr>
            <a:r>
              <a:rPr lang="en-US" sz="1400" dirty="0">
                <a:solidFill>
                  <a:schemeClr val="bg1"/>
                </a:solidFill>
              </a:rPr>
              <a:t>reception · key</a:t>
            </a:r>
            <a:endParaRPr lang="en-US" sz="1400" dirty="0"/>
          </a:p>
          <a:p>
            <a:pPr marL="342900" indent="-342900">
              <a:spcAft>
                <a:spcPts val="200"/>
              </a:spcAft>
              <a:buSzPct val="100000"/>
              <a:buChar char="•"/>
            </a:pPr>
            <a:r>
              <a:rPr lang="en-US" sz="1400" dirty="0">
                <a:solidFill>
                  <a:schemeClr val="bg1"/>
                </a:solidFill>
              </a:rPr>
              <a:t>check in · check out</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5: A University Interview</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685800" y="1325880"/>
            <a:ext cx="4709160" cy="3154680"/>
          </a:xfrm>
          <a:prstGeom prst="rect">
            <a:avLst/>
          </a:prstGeom>
          <a:noFill/>
          <a:ln/>
        </p:spPr>
        <p:txBody>
          <a:bodyPr wrap="square" lIns="0" tIns="0" rIns="0" bIns="0" rtlCol="0" anchor="t"/>
          <a:lstStyle/>
          <a:p>
            <a:pPr indent="0" marL="0">
              <a:buNone/>
            </a:pPr>
            <a:r>
              <a:rPr lang="en-US" sz="1500" b="1" dirty="0">
                <a:solidFill>
                  <a:schemeClr val="accent1"/>
                </a:solidFill>
              </a:rPr>
              <a:t>Interviewer:  </a:t>
            </a:r>
            <a:pPr indent="0" marL="0">
              <a:spcAft>
                <a:spcPts val="1000"/>
              </a:spcAft>
              <a:buNone/>
            </a:pPr>
            <a:r>
              <a:rPr lang="en-US" sz="1500" dirty="0">
                <a:solidFill>
                  <a:schemeClr val="tx1"/>
                </a:solidFill>
              </a:rPr>
              <a:t>Why do you want to study computer science?</a:t>
            </a:r>
            <a:endParaRPr lang="en-US" sz="1500" dirty="0"/>
          </a:p>
          <a:p>
            <a:pPr indent="0" marL="0">
              <a:buNone/>
            </a:pPr>
            <a:r>
              <a:rPr lang="en-US" sz="1500" b="1" dirty="0">
                <a:solidFill>
                  <a:schemeClr val="accent3"/>
                </a:solidFill>
              </a:rPr>
              <a:t>Student:  </a:t>
            </a:r>
            <a:pPr indent="0" marL="0">
              <a:spcAft>
                <a:spcPts val="1000"/>
              </a:spcAft>
              <a:buNone/>
            </a:pPr>
            <a:r>
              <a:rPr lang="en-US" sz="1500" dirty="0">
                <a:solidFill>
                  <a:schemeClr val="tx1"/>
                </a:solidFill>
              </a:rPr>
              <a:t>Because I love technology, and I want to create apps.</a:t>
            </a:r>
            <a:endParaRPr lang="en-US" sz="1500" dirty="0"/>
          </a:p>
          <a:p>
            <a:pPr indent="0" marL="0">
              <a:buNone/>
            </a:pPr>
            <a:r>
              <a:rPr lang="en-US" sz="1500" b="1" dirty="0">
                <a:solidFill>
                  <a:schemeClr val="accent1"/>
                </a:solidFill>
              </a:rPr>
              <a:t>Interviewer:  </a:t>
            </a:r>
            <a:pPr indent="0" marL="0">
              <a:spcAft>
                <a:spcPts val="1000"/>
              </a:spcAft>
              <a:buNone/>
            </a:pPr>
            <a:r>
              <a:rPr lang="en-US" sz="1500" dirty="0">
                <a:solidFill>
                  <a:schemeClr val="tx1"/>
                </a:solidFill>
              </a:rPr>
              <a:t>What are your plans after university?</a:t>
            </a:r>
            <a:endParaRPr lang="en-US" sz="1500" dirty="0"/>
          </a:p>
          <a:p>
            <a:pPr indent="0" marL="0">
              <a:buNone/>
            </a:pPr>
            <a:r>
              <a:rPr lang="en-US" sz="1500" b="1" dirty="0">
                <a:solidFill>
                  <a:schemeClr val="accent3"/>
                </a:solidFill>
              </a:rPr>
              <a:t>Student:  </a:t>
            </a:r>
            <a:pPr indent="0" marL="0">
              <a:spcAft>
                <a:spcPts val="1000"/>
              </a:spcAft>
              <a:buNone/>
            </a:pPr>
            <a:r>
              <a:rPr lang="en-US" sz="1500" dirty="0">
                <a:solidFill>
                  <a:schemeClr val="tx1"/>
                </a:solidFill>
              </a:rPr>
              <a:t>I'm going to look for a job in a big company.</a:t>
            </a:r>
            <a:endParaRPr lang="en-US" sz="1500" dirty="0"/>
          </a:p>
          <a:p>
            <a:pPr indent="0" marL="0">
              <a:buNone/>
            </a:pPr>
            <a:r>
              <a:rPr lang="en-US" sz="1500" b="1" dirty="0">
                <a:solidFill>
                  <a:schemeClr val="accent1"/>
                </a:solidFill>
              </a:rPr>
              <a:t>Interviewer:  </a:t>
            </a:r>
            <a:pPr indent="0" marL="0">
              <a:spcAft>
                <a:spcPts val="1000"/>
              </a:spcAft>
              <a:buNone/>
            </a:pPr>
            <a:r>
              <a:rPr lang="en-US" sz="1500" dirty="0">
                <a:solidFill>
                  <a:schemeClr val="tx1"/>
                </a:solidFill>
              </a:rPr>
              <a:t>Where do you see yourself in ten years?</a:t>
            </a:r>
            <a:endParaRPr lang="en-US" sz="1500" dirty="0"/>
          </a:p>
          <a:p>
            <a:pPr indent="0" marL="0">
              <a:buNone/>
            </a:pPr>
            <a:r>
              <a:rPr lang="en-US" sz="1500" b="1" dirty="0">
                <a:solidFill>
                  <a:schemeClr val="accent3"/>
                </a:solidFill>
              </a:rPr>
              <a:t>Student:  </a:t>
            </a:r>
            <a:pPr indent="0" marL="0">
              <a:spcAft>
                <a:spcPts val="1000"/>
              </a:spcAft>
              <a:buNone/>
            </a:pPr>
            <a:r>
              <a:rPr lang="en-US" sz="1500" dirty="0">
                <a:solidFill>
                  <a:schemeClr val="tx1"/>
                </a:solidFill>
              </a:rPr>
              <a:t>I think I'll have my own business.</a:t>
            </a:r>
            <a:endParaRPr lang="en-US" sz="1500" dirty="0"/>
          </a:p>
          <a:p>
            <a:pPr indent="0" marL="0">
              <a:buNone/>
            </a:pPr>
            <a:r>
              <a:rPr lang="en-US" sz="1500" b="1" dirty="0">
                <a:solidFill>
                  <a:schemeClr val="accent1"/>
                </a:solidFill>
              </a:rPr>
              <a:t>Interviewer:  </a:t>
            </a:r>
            <a:pPr indent="0" marL="0">
              <a:spcAft>
                <a:spcPts val="1000"/>
              </a:spcAft>
              <a:buNone/>
            </a:pPr>
            <a:r>
              <a:rPr lang="en-US" sz="1500" dirty="0">
                <a:solidFill>
                  <a:schemeClr val="tx1"/>
                </a:solidFill>
              </a:rPr>
              <a:t>That's a great goal. Good luck!</a:t>
            </a:r>
            <a:endParaRPr lang="en-US" sz="1500" dirty="0"/>
          </a:p>
        </p:txBody>
      </p:sp>
      <p:sp>
        <p:nvSpPr>
          <p:cNvPr id="5"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6" name="Text 4"/>
          <p:cNvSpPr txBox="1"/>
          <p:nvPr/>
        </p:nvSpPr>
        <p:spPr>
          <a:xfrm>
            <a:off x="6035040" y="123444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Useful expressions</a:t>
            </a:r>
            <a:endParaRPr lang="en-US" sz="1500" dirty="0"/>
          </a:p>
        </p:txBody>
      </p:sp>
      <p:sp>
        <p:nvSpPr>
          <p:cNvPr id="7" name="Text 5"/>
          <p:cNvSpPr txBox="1"/>
          <p:nvPr/>
        </p:nvSpPr>
        <p:spPr>
          <a:xfrm>
            <a:off x="6035040" y="160020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I want to… because…</a:t>
            </a:r>
            <a:endParaRPr lang="en-US" sz="1400" dirty="0"/>
          </a:p>
          <a:p>
            <a:pPr marL="342900" indent="-342900">
              <a:spcAft>
                <a:spcPts val="200"/>
              </a:spcAft>
              <a:buSzPct val="100000"/>
              <a:buChar char="•"/>
            </a:pPr>
            <a:r>
              <a:rPr lang="en-US" sz="1400" dirty="0">
                <a:solidFill>
                  <a:schemeClr val="bg1"/>
                </a:solidFill>
              </a:rPr>
              <a:t>I'm going to…</a:t>
            </a:r>
            <a:endParaRPr lang="en-US" sz="1400" dirty="0"/>
          </a:p>
          <a:p>
            <a:pPr marL="342900" indent="-342900">
              <a:spcAft>
                <a:spcPts val="200"/>
              </a:spcAft>
              <a:buSzPct val="100000"/>
              <a:buChar char="•"/>
            </a:pPr>
            <a:r>
              <a:rPr lang="en-US" sz="1400" dirty="0">
                <a:solidFill>
                  <a:schemeClr val="bg1"/>
                </a:solidFill>
              </a:rPr>
              <a:t>I hope to…</a:t>
            </a:r>
            <a:endParaRPr lang="en-US" sz="1400" dirty="0"/>
          </a:p>
        </p:txBody>
      </p:sp>
      <p:sp>
        <p:nvSpPr>
          <p:cNvPr id="8" name="Text 6"/>
          <p:cNvSpPr txBox="1"/>
          <p:nvPr/>
        </p:nvSpPr>
        <p:spPr>
          <a:xfrm>
            <a:off x="6035040" y="288036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Vocabulary</a:t>
            </a:r>
            <a:endParaRPr lang="en-US" sz="1500" dirty="0"/>
          </a:p>
        </p:txBody>
      </p:sp>
      <p:sp>
        <p:nvSpPr>
          <p:cNvPr id="9" name="Text 7"/>
          <p:cNvSpPr txBox="1"/>
          <p:nvPr/>
        </p:nvSpPr>
        <p:spPr>
          <a:xfrm>
            <a:off x="6035040" y="324612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degree · course</a:t>
            </a:r>
            <a:endParaRPr lang="en-US" sz="1400" dirty="0"/>
          </a:p>
          <a:p>
            <a:pPr marL="342900" indent="-342900">
              <a:spcAft>
                <a:spcPts val="200"/>
              </a:spcAft>
              <a:buSzPct val="100000"/>
              <a:buChar char="•"/>
            </a:pPr>
            <a:r>
              <a:rPr lang="en-US" sz="1400" dirty="0">
                <a:solidFill>
                  <a:schemeClr val="bg1"/>
                </a:solidFill>
              </a:rPr>
              <a:t>skills · experience</a:t>
            </a:r>
            <a:endParaRPr lang="en-US" sz="1400" dirty="0"/>
          </a:p>
          <a:p>
            <a:pPr marL="342900" indent="-342900">
              <a:spcAft>
                <a:spcPts val="200"/>
              </a:spcAft>
              <a:buSzPct val="100000"/>
              <a:buChar char="•"/>
            </a:pPr>
            <a:r>
              <a:rPr lang="en-US" sz="1400" dirty="0">
                <a:solidFill>
                  <a:schemeClr val="bg1"/>
                </a:solidFill>
              </a:rPr>
              <a:t>goal · career</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6: At the Train Station</a:t>
            </a:r>
            <a:endParaRPr lang="en-US" sz="3000" dirty="0"/>
          </a:p>
        </p:txBody>
      </p:sp>
      <p:sp>
        <p:nvSpPr>
          <p:cNvPr id="3" name="card"/>
          <p:cNvSpPr/>
          <p:nvPr/>
        </p:nvSpPr>
        <p:spPr>
          <a:xfrm>
            <a:off x="457200" y="1097280"/>
            <a:ext cx="5120640" cy="352044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685800" y="1325880"/>
            <a:ext cx="4709160" cy="3154680"/>
          </a:xfrm>
          <a:prstGeom prst="rect">
            <a:avLst/>
          </a:prstGeom>
          <a:noFill/>
          <a:ln/>
        </p:spPr>
        <p:txBody>
          <a:bodyPr wrap="square" lIns="0" tIns="0" rIns="0" bIns="0" rtlCol="0" anchor="t"/>
          <a:lstStyle/>
          <a:p>
            <a:pPr indent="0" marL="0">
              <a:buNone/>
            </a:pPr>
            <a:r>
              <a:rPr lang="en-US" sz="1500" b="1" dirty="0">
                <a:solidFill>
                  <a:schemeClr val="accent1"/>
                </a:solidFill>
              </a:rPr>
              <a:t>Traveller:  </a:t>
            </a:r>
            <a:pPr indent="0" marL="0">
              <a:spcAft>
                <a:spcPts val="1000"/>
              </a:spcAft>
              <a:buNone/>
            </a:pPr>
            <a:r>
              <a:rPr lang="en-US" sz="1500" dirty="0">
                <a:solidFill>
                  <a:schemeClr val="tx1"/>
                </a:solidFill>
              </a:rPr>
              <a:t>Excuse me, when is the next train to Oran?</a:t>
            </a:r>
            <a:endParaRPr lang="en-US" sz="1500" dirty="0"/>
          </a:p>
          <a:p>
            <a:pPr indent="0" marL="0">
              <a:buNone/>
            </a:pPr>
            <a:r>
              <a:rPr lang="en-US" sz="1500" b="1" dirty="0">
                <a:solidFill>
                  <a:schemeClr val="accent3"/>
                </a:solidFill>
              </a:rPr>
              <a:t>Clerk:  </a:t>
            </a:r>
            <a:pPr indent="0" marL="0">
              <a:spcAft>
                <a:spcPts val="1000"/>
              </a:spcAft>
              <a:buNone/>
            </a:pPr>
            <a:r>
              <a:rPr lang="en-US" sz="1500" dirty="0">
                <a:solidFill>
                  <a:schemeClr val="tx1"/>
                </a:solidFill>
              </a:rPr>
              <a:t>It leaves at 10:15 from platform 3.</a:t>
            </a:r>
            <a:endParaRPr lang="en-US" sz="1500" dirty="0"/>
          </a:p>
          <a:p>
            <a:pPr indent="0" marL="0">
              <a:buNone/>
            </a:pPr>
            <a:r>
              <a:rPr lang="en-US" sz="1500" b="1" dirty="0">
                <a:solidFill>
                  <a:schemeClr val="accent1"/>
                </a:solidFill>
              </a:rPr>
              <a:t>Traveller:  </a:t>
            </a:r>
            <a:pPr indent="0" marL="0">
              <a:spcAft>
                <a:spcPts val="1000"/>
              </a:spcAft>
              <a:buNone/>
            </a:pPr>
            <a:r>
              <a:rPr lang="en-US" sz="1500" dirty="0">
                <a:solidFill>
                  <a:schemeClr val="tx1"/>
                </a:solidFill>
              </a:rPr>
              <a:t>A return ticket, please. How much is it?</a:t>
            </a:r>
            <a:endParaRPr lang="en-US" sz="1500" dirty="0"/>
          </a:p>
          <a:p>
            <a:pPr indent="0" marL="0">
              <a:buNone/>
            </a:pPr>
            <a:r>
              <a:rPr lang="en-US" sz="1500" b="1" dirty="0">
                <a:solidFill>
                  <a:schemeClr val="accent3"/>
                </a:solidFill>
              </a:rPr>
              <a:t>Clerk:  </a:t>
            </a:r>
            <a:pPr indent="0" marL="0">
              <a:spcAft>
                <a:spcPts val="1000"/>
              </a:spcAft>
              <a:buNone/>
            </a:pPr>
            <a:r>
              <a:rPr lang="en-US" sz="1500" dirty="0">
                <a:solidFill>
                  <a:schemeClr val="tx1"/>
                </a:solidFill>
              </a:rPr>
              <a:t>2,400 dinars. When are you coming back?</a:t>
            </a:r>
            <a:endParaRPr lang="en-US" sz="1500" dirty="0"/>
          </a:p>
          <a:p>
            <a:pPr indent="0" marL="0">
              <a:buNone/>
            </a:pPr>
            <a:r>
              <a:rPr lang="en-US" sz="1500" b="1" dirty="0">
                <a:solidFill>
                  <a:schemeClr val="accent1"/>
                </a:solidFill>
              </a:rPr>
              <a:t>Traveller:  </a:t>
            </a:r>
            <a:pPr indent="0" marL="0">
              <a:spcAft>
                <a:spcPts val="1000"/>
              </a:spcAft>
              <a:buNone/>
            </a:pPr>
            <a:r>
              <a:rPr lang="en-US" sz="1500" dirty="0">
                <a:solidFill>
                  <a:schemeClr val="tx1"/>
                </a:solidFill>
              </a:rPr>
              <a:t>On Sunday evening.</a:t>
            </a:r>
            <a:endParaRPr lang="en-US" sz="1500" dirty="0"/>
          </a:p>
          <a:p>
            <a:pPr indent="0" marL="0">
              <a:buNone/>
            </a:pPr>
            <a:r>
              <a:rPr lang="en-US" sz="1500" b="1" dirty="0">
                <a:solidFill>
                  <a:schemeClr val="accent3"/>
                </a:solidFill>
              </a:rPr>
              <a:t>Clerk:  </a:t>
            </a:r>
            <a:pPr indent="0" marL="0">
              <a:spcAft>
                <a:spcPts val="1000"/>
              </a:spcAft>
              <a:buNone/>
            </a:pPr>
            <a:r>
              <a:rPr lang="en-US" sz="1500" dirty="0">
                <a:solidFill>
                  <a:schemeClr val="tx1"/>
                </a:solidFill>
              </a:rPr>
              <a:t>Here you are. The train will arrive in Oran at 2 p.m.</a:t>
            </a:r>
            <a:endParaRPr lang="en-US" sz="1500" dirty="0"/>
          </a:p>
          <a:p>
            <a:pPr indent="0" marL="0">
              <a:buNone/>
            </a:pPr>
            <a:r>
              <a:rPr lang="en-US" sz="1500" b="1" dirty="0">
                <a:solidFill>
                  <a:schemeClr val="accent1"/>
                </a:solidFill>
              </a:rPr>
              <a:t>Traveller:  </a:t>
            </a:r>
            <a:pPr indent="0" marL="0">
              <a:spcAft>
                <a:spcPts val="1000"/>
              </a:spcAft>
              <a:buNone/>
            </a:pPr>
            <a:r>
              <a:rPr lang="en-US" sz="1500" dirty="0">
                <a:solidFill>
                  <a:schemeClr val="tx1"/>
                </a:solidFill>
              </a:rPr>
              <a:t>Thank you very much!</a:t>
            </a:r>
            <a:endParaRPr lang="en-US" sz="1500" dirty="0"/>
          </a:p>
        </p:txBody>
      </p:sp>
      <p:sp>
        <p:nvSpPr>
          <p:cNvPr id="5" name="card"/>
          <p:cNvSpPr/>
          <p:nvPr/>
        </p:nvSpPr>
        <p:spPr>
          <a:xfrm>
            <a:off x="5806440" y="1097280"/>
            <a:ext cx="2880360" cy="3520440"/>
          </a:xfrm>
          <a:prstGeom prst="roundRect">
            <a:avLst>
              <a:gd name="adj" fmla="val 3810"/>
            </a:avLst>
          </a:prstGeom>
          <a:solidFill>
            <a:schemeClr val="tx2"/>
          </a:solidFill>
          <a:ln w="12700">
            <a:solidFill>
              <a:schemeClr val="tx2"/>
            </a:solidFill>
            <a:prstDash val="solid"/>
          </a:ln>
        </p:spPr>
      </p:sp>
      <p:sp>
        <p:nvSpPr>
          <p:cNvPr id="6" name="Text 4"/>
          <p:cNvSpPr txBox="1"/>
          <p:nvPr/>
        </p:nvSpPr>
        <p:spPr>
          <a:xfrm>
            <a:off x="6035040" y="123444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Useful expressions</a:t>
            </a:r>
            <a:endParaRPr lang="en-US" sz="1500" dirty="0"/>
          </a:p>
        </p:txBody>
      </p:sp>
      <p:sp>
        <p:nvSpPr>
          <p:cNvPr id="7" name="Text 5"/>
          <p:cNvSpPr txBox="1"/>
          <p:nvPr/>
        </p:nvSpPr>
        <p:spPr>
          <a:xfrm>
            <a:off x="6035040" y="160020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When is the next…?</a:t>
            </a:r>
            <a:endParaRPr lang="en-US" sz="1400" dirty="0"/>
          </a:p>
          <a:p>
            <a:pPr marL="342900" indent="-342900">
              <a:spcAft>
                <a:spcPts val="200"/>
              </a:spcAft>
              <a:buSzPct val="100000"/>
              <a:buChar char="•"/>
            </a:pPr>
            <a:r>
              <a:rPr lang="en-US" sz="1400" dirty="0">
                <a:solidFill>
                  <a:schemeClr val="bg1"/>
                </a:solidFill>
              </a:rPr>
              <a:t>A return ticket, please.</a:t>
            </a:r>
            <a:endParaRPr lang="en-US" sz="1400" dirty="0"/>
          </a:p>
          <a:p>
            <a:pPr marL="342900" indent="-342900">
              <a:spcAft>
                <a:spcPts val="200"/>
              </a:spcAft>
              <a:buSzPct val="100000"/>
              <a:buChar char="•"/>
            </a:pPr>
            <a:r>
              <a:rPr lang="en-US" sz="1400" dirty="0">
                <a:solidFill>
                  <a:schemeClr val="bg1"/>
                </a:solidFill>
              </a:rPr>
              <a:t>Which platform…?</a:t>
            </a:r>
            <a:endParaRPr lang="en-US" sz="1400" dirty="0"/>
          </a:p>
        </p:txBody>
      </p:sp>
      <p:sp>
        <p:nvSpPr>
          <p:cNvPr id="8" name="Text 6"/>
          <p:cNvSpPr txBox="1"/>
          <p:nvPr/>
        </p:nvSpPr>
        <p:spPr>
          <a:xfrm>
            <a:off x="6035040" y="2880360"/>
            <a:ext cx="2468880" cy="320040"/>
          </a:xfrm>
          <a:prstGeom prst="rect">
            <a:avLst/>
          </a:prstGeom>
          <a:noFill/>
          <a:ln/>
        </p:spPr>
        <p:txBody>
          <a:bodyPr wrap="square" lIns="0" tIns="0" rIns="0" bIns="0" rtlCol="0" anchor="t"/>
          <a:lstStyle/>
          <a:p>
            <a:pPr indent="0" marL="0">
              <a:buNone/>
            </a:pPr>
            <a:r>
              <a:rPr lang="en-US" sz="1500" b="1" dirty="0">
                <a:solidFill>
                  <a:schemeClr val="accent2"/>
                </a:solidFill>
              </a:rPr>
              <a:t>Vocabulary</a:t>
            </a:r>
            <a:endParaRPr lang="en-US" sz="1500" dirty="0"/>
          </a:p>
        </p:txBody>
      </p:sp>
      <p:sp>
        <p:nvSpPr>
          <p:cNvPr id="9" name="Text 7"/>
          <p:cNvSpPr txBox="1"/>
          <p:nvPr/>
        </p:nvSpPr>
        <p:spPr>
          <a:xfrm>
            <a:off x="6035040" y="3246120"/>
            <a:ext cx="2514600" cy="137160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platform · timetable</a:t>
            </a:r>
            <a:endParaRPr lang="en-US" sz="1400" dirty="0"/>
          </a:p>
          <a:p>
            <a:pPr marL="342900" indent="-342900">
              <a:spcAft>
                <a:spcPts val="200"/>
              </a:spcAft>
              <a:buSzPct val="100000"/>
              <a:buChar char="•"/>
            </a:pPr>
            <a:r>
              <a:rPr lang="en-US" sz="1400" dirty="0">
                <a:solidFill>
                  <a:schemeClr val="bg1"/>
                </a:solidFill>
              </a:rPr>
              <a:t>single · return</a:t>
            </a:r>
            <a:endParaRPr lang="en-US" sz="1400" dirty="0"/>
          </a:p>
          <a:p>
            <a:pPr marL="342900" indent="-342900">
              <a:spcAft>
                <a:spcPts val="200"/>
              </a:spcAft>
              <a:buSzPct val="100000"/>
              <a:buChar char="•"/>
            </a:pPr>
            <a:r>
              <a:rPr lang="en-US" sz="1400" dirty="0">
                <a:solidFill>
                  <a:schemeClr val="bg1"/>
                </a:solidFill>
              </a:rPr>
              <a:t>delayed · on time</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5486400" cy="457200"/>
          </a:xfrm>
          <a:prstGeom prst="rect">
            <a:avLst/>
          </a:prstGeom>
          <a:noFill/>
          <a:ln/>
        </p:spPr>
        <p:txBody>
          <a:bodyPr wrap="square" lIns="0" tIns="0" rIns="0" bIns="0" rtlCol="0"/>
          <a:lstStyle/>
          <a:p>
            <a:pPr indent="0" marL="0">
              <a:buNone/>
            </a:pPr>
            <a:r>
              <a:rPr lang="en-US" sz="1800" b="1" dirty="0">
                <a:solidFill>
                  <a:schemeClr val="tx2"/>
                </a:solidFill>
              </a:rPr>
              <a:t>PART 3</a:t>
            </a:r>
            <a:endParaRPr lang="en-US" sz="1800" dirty="0"/>
          </a:p>
        </p:txBody>
      </p:sp>
      <p:sp>
        <p:nvSpPr>
          <p:cNvPr id="3" name="Text 0"/>
          <p:cNvSpPr/>
          <p:nvPr>
            <p:ph idx="101" type="title" hasCustomPrompt="1"/>
          </p:nvPr>
        </p:nvSpPr>
        <p:spPr>
          <a:xfrm>
            <a:off x="548640" y="1691640"/>
            <a:ext cx="5669280" cy="1097280"/>
          </a:xfrm>
          <a:prstGeom prst="rect">
            <a:avLst/>
          </a:prstGeom>
          <a:noFill/>
          <a:ln/>
        </p:spPr>
        <p:txBody>
          <a:bodyPr wrap="square" lIns="0" tIns="0" rIns="0" bIns="0" rtlCol="0" anchor="t"/>
          <a:lstStyle/>
          <a:p>
            <a:pPr algn="l" indent="0" marL="0">
              <a:buNone/>
            </a:pPr>
            <a:r>
              <a:rPr lang="en-US" sz="4000" b="1" dirty="0">
                <a:solidFill>
                  <a:schemeClr val="bg1"/>
                </a:solidFill>
              </a:rPr>
              <a:t>Scenarios</a:t>
            </a:r>
            <a:endParaRPr lang="en-US" sz="4000" dirty="0"/>
          </a:p>
        </p:txBody>
      </p:sp>
      <p:sp>
        <p:nvSpPr>
          <p:cNvPr id="4" name="Text 0"/>
          <p:cNvSpPr/>
          <p:nvPr>
            <p:ph idx="102" type="body" hasCustomPrompt="1"/>
          </p:nvPr>
        </p:nvSpPr>
        <p:spPr>
          <a:xfrm>
            <a:off x="548640" y="2880360"/>
            <a:ext cx="5486400" cy="914400"/>
          </a:xfrm>
          <a:prstGeom prst="rect">
            <a:avLst/>
          </a:prstGeom>
          <a:noFill/>
          <a:ln/>
        </p:spPr>
        <p:txBody>
          <a:bodyPr wrap="square" lIns="0" tIns="0" rIns="0" bIns="0" rtlCol="0" anchor="t"/>
          <a:lstStyle/>
          <a:p>
            <a:pPr indent="0" marL="0">
              <a:buNone/>
            </a:pPr>
            <a:r>
              <a:rPr lang="en-US" sz="1800" dirty="0">
                <a:solidFill>
                  <a:schemeClr val="bg1"/>
                </a:solidFill>
              </a:rPr>
              <a:t>Scenario cards · Plan your week together · Final performance</a:t>
            </a:r>
            <a:endParaRPr lang="en-US" sz="1800" dirty="0"/>
          </a:p>
        </p:txBody>
      </p:sp>
      <p:sp>
        <p:nvSpPr>
          <p:cNvPr id="5" name="divider circle"/>
          <p:cNvSpPr/>
          <p:nvPr/>
        </p:nvSpPr>
        <p:spPr>
          <a:xfrm>
            <a:off x="6400800" y="1417320"/>
            <a:ext cx="2194560" cy="2194560"/>
          </a:xfrm>
          <a:prstGeom prst="ellipse">
            <a:avLst/>
          </a:prstGeom>
          <a:solidFill>
            <a:schemeClr val="bg1"/>
          </a:solidFill>
          <a:ln w="12700">
            <a:solidFill>
              <a:schemeClr val="bg1"/>
            </a:solidFill>
            <a:prstDash val="solid"/>
          </a:ln>
        </p:spPr>
      </p:sp>
      <p:sp>
        <p:nvSpPr>
          <p:cNvPr id="6" name="divider inner"/>
          <p:cNvSpPr/>
          <p:nvPr/>
        </p:nvSpPr>
        <p:spPr>
          <a:xfrm>
            <a:off x="6629400" y="1645920"/>
            <a:ext cx="1737360" cy="1737360"/>
          </a:xfrm>
          <a:prstGeom prst="ellipse">
            <a:avLst/>
          </a:prstGeom>
          <a:solidFill>
            <a:schemeClr val="tx2"/>
          </a:solidFill>
          <a:ln w="12700">
            <a:solidFill>
              <a:schemeClr val="tx2"/>
            </a:solidFill>
            <a:prstDash val="solid"/>
          </a:ln>
        </p:spPr>
      </p:sp>
      <p:pic>
        <p:nvPicPr>
          <p:cNvPr id="7" name="divider icon" descr="preencoded.png">    </p:cNvPr>
          <p:cNvPicPr>
            <a:picLocks noChangeAspect="1"/>
          </p:cNvPicPr>
          <p:nvPr/>
        </p:nvPicPr>
        <p:blipFill>
          <a:blip r:embed="rId1"/>
          <a:stretch>
            <a:fillRect/>
          </a:stretch>
        </p:blipFill>
        <p:spPr>
          <a:xfrm>
            <a:off x="7040880" y="2057400"/>
            <a:ext cx="914400" cy="914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Cards</a:t>
            </a:r>
            <a:endParaRPr lang="en-US" sz="3000" dirty="0"/>
          </a:p>
        </p:txBody>
      </p:sp>
      <p:sp>
        <p:nvSpPr>
          <p:cNvPr id="3" name="card"/>
          <p:cNvSpPr/>
          <p:nvPr/>
        </p:nvSpPr>
        <p:spPr>
          <a:xfrm>
            <a:off x="457200" y="1097280"/>
            <a:ext cx="2606040" cy="1051560"/>
          </a:xfrm>
          <a:prstGeom prst="roundRect">
            <a:avLst>
              <a:gd name="adj" fmla="val 10435"/>
            </a:avLst>
          </a:prstGeom>
          <a:solidFill>
            <a:schemeClr val="bg2"/>
          </a:solidFill>
          <a:ln w="12700">
            <a:solidFill>
              <a:schemeClr val="bg2"/>
            </a:solidFill>
            <a:prstDash val="solid"/>
          </a:ln>
        </p:spPr>
      </p:sp>
      <p:sp>
        <p:nvSpPr>
          <p:cNvPr id="4" name="icon circle"/>
          <p:cNvSpPr/>
          <p:nvPr/>
        </p:nvSpPr>
        <p:spPr>
          <a:xfrm>
            <a:off x="594360" y="137160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9"/>
          <a:stretch>
            <a:fillRect/>
          </a:stretch>
        </p:blipFill>
        <p:spPr>
          <a:xfrm>
            <a:off x="730148" y="1507388"/>
            <a:ext cx="231343" cy="231343"/>
          </a:xfrm>
          <a:prstGeom prst="rect">
            <a:avLst/>
          </a:prstGeom>
        </p:spPr>
      </p:pic>
      <p:sp>
        <p:nvSpPr>
          <p:cNvPr id="6" name="Text 3"/>
          <p:cNvSpPr txBox="1"/>
          <p:nvPr/>
        </p:nvSpPr>
        <p:spPr>
          <a:xfrm>
            <a:off x="1207008" y="1097280"/>
            <a:ext cx="1783080" cy="1051560"/>
          </a:xfrm>
          <a:prstGeom prst="rect">
            <a:avLst/>
          </a:prstGeom>
          <a:noFill/>
          <a:ln/>
        </p:spPr>
        <p:txBody>
          <a:bodyPr wrap="square" lIns="0" tIns="0" rIns="0" bIns="0" rtlCol="0" anchor="ctr"/>
          <a:lstStyle/>
          <a:p>
            <a:pPr indent="0" marL="0">
              <a:buNone/>
            </a:pPr>
            <a:r>
              <a:rPr lang="en-US" sz="1400" dirty="0">
                <a:solidFill>
                  <a:schemeClr val="tx1"/>
                </a:solidFill>
              </a:rPr>
              <a:t>Invite a friend to a match</a:t>
            </a:r>
            <a:endParaRPr lang="en-US" sz="1400" dirty="0"/>
          </a:p>
        </p:txBody>
      </p:sp>
      <p:sp>
        <p:nvSpPr>
          <p:cNvPr id="7" name="card"/>
          <p:cNvSpPr/>
          <p:nvPr/>
        </p:nvSpPr>
        <p:spPr>
          <a:xfrm>
            <a:off x="3200400" y="1097280"/>
            <a:ext cx="2606040" cy="1051560"/>
          </a:xfrm>
          <a:prstGeom prst="roundRect">
            <a:avLst>
              <a:gd name="adj" fmla="val 10435"/>
            </a:avLst>
          </a:prstGeom>
          <a:solidFill>
            <a:schemeClr val="bg2"/>
          </a:solidFill>
          <a:ln w="12700">
            <a:solidFill>
              <a:schemeClr val="bg2"/>
            </a:solidFill>
            <a:prstDash val="solid"/>
          </a:ln>
        </p:spPr>
      </p:sp>
      <p:sp>
        <p:nvSpPr>
          <p:cNvPr id="8" name="icon circle"/>
          <p:cNvSpPr/>
          <p:nvPr/>
        </p:nvSpPr>
        <p:spPr>
          <a:xfrm>
            <a:off x="3337560" y="1371600"/>
            <a:ext cx="502920" cy="502920"/>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10"/>
          <a:stretch>
            <a:fillRect/>
          </a:stretch>
        </p:blipFill>
        <p:spPr>
          <a:xfrm>
            <a:off x="3473348" y="1507388"/>
            <a:ext cx="231343" cy="231343"/>
          </a:xfrm>
          <a:prstGeom prst="rect">
            <a:avLst/>
          </a:prstGeom>
        </p:spPr>
      </p:pic>
      <p:sp>
        <p:nvSpPr>
          <p:cNvPr id="10" name="Text 6"/>
          <p:cNvSpPr txBox="1"/>
          <p:nvPr/>
        </p:nvSpPr>
        <p:spPr>
          <a:xfrm>
            <a:off x="3950208" y="1097280"/>
            <a:ext cx="1783080" cy="1051560"/>
          </a:xfrm>
          <a:prstGeom prst="rect">
            <a:avLst/>
          </a:prstGeom>
          <a:noFill/>
          <a:ln/>
        </p:spPr>
        <p:txBody>
          <a:bodyPr wrap="square" lIns="0" tIns="0" rIns="0" bIns="0" rtlCol="0" anchor="ctr"/>
          <a:lstStyle/>
          <a:p>
            <a:pPr indent="0" marL="0">
              <a:buNone/>
            </a:pPr>
            <a:r>
              <a:rPr lang="en-US" sz="1400" dirty="0">
                <a:solidFill>
                  <a:schemeClr val="tx1"/>
                </a:solidFill>
              </a:rPr>
              <a:t>Cancel a dentist appointment</a:t>
            </a:r>
            <a:endParaRPr lang="en-US" sz="1400" dirty="0"/>
          </a:p>
        </p:txBody>
      </p:sp>
      <p:sp>
        <p:nvSpPr>
          <p:cNvPr id="11" name="card"/>
          <p:cNvSpPr/>
          <p:nvPr/>
        </p:nvSpPr>
        <p:spPr>
          <a:xfrm>
            <a:off x="457200" y="2286000"/>
            <a:ext cx="2606040" cy="1051560"/>
          </a:xfrm>
          <a:prstGeom prst="roundRect">
            <a:avLst>
              <a:gd name="adj" fmla="val 10435"/>
            </a:avLst>
          </a:prstGeom>
          <a:solidFill>
            <a:schemeClr val="bg2"/>
          </a:solidFill>
          <a:ln w="12700">
            <a:solidFill>
              <a:schemeClr val="bg2"/>
            </a:solidFill>
            <a:prstDash val="solid"/>
          </a:ln>
        </p:spPr>
      </p:sp>
      <p:sp>
        <p:nvSpPr>
          <p:cNvPr id="12" name="icon circle"/>
          <p:cNvSpPr/>
          <p:nvPr/>
        </p:nvSpPr>
        <p:spPr>
          <a:xfrm>
            <a:off x="594360" y="2560320"/>
            <a:ext cx="502920" cy="502920"/>
          </a:xfrm>
          <a:prstGeom prst="ellipse">
            <a:avLst/>
          </a:prstGeom>
          <a:solidFill>
            <a:schemeClr val="accent3"/>
          </a:solidFill>
          <a:ln w="12700">
            <a:solidFill>
              <a:schemeClr val="accent3"/>
            </a:solidFill>
            <a:prstDash val="solid"/>
          </a:ln>
        </p:spPr>
      </p:sp>
      <p:pic>
        <p:nvPicPr>
          <p:cNvPr id="13" name="icon" descr="preencoded.png">    </p:cNvPr>
          <p:cNvPicPr>
            <a:picLocks noChangeAspect="1"/>
          </p:cNvPicPr>
          <p:nvPr/>
        </p:nvPicPr>
        <p:blipFill>
          <a:blip r:embed="rId11"/>
          <a:stretch>
            <a:fillRect/>
          </a:stretch>
        </p:blipFill>
        <p:spPr>
          <a:xfrm>
            <a:off x="730148" y="2696108"/>
            <a:ext cx="231343" cy="231343"/>
          </a:xfrm>
          <a:prstGeom prst="rect">
            <a:avLst/>
          </a:prstGeom>
        </p:spPr>
      </p:pic>
      <p:sp>
        <p:nvSpPr>
          <p:cNvPr id="14" name="Text 9"/>
          <p:cNvSpPr txBox="1"/>
          <p:nvPr/>
        </p:nvSpPr>
        <p:spPr>
          <a:xfrm>
            <a:off x="1207008" y="2286000"/>
            <a:ext cx="1783080" cy="1051560"/>
          </a:xfrm>
          <a:prstGeom prst="rect">
            <a:avLst/>
          </a:prstGeom>
          <a:noFill/>
          <a:ln/>
        </p:spPr>
        <p:txBody>
          <a:bodyPr wrap="square" lIns="0" tIns="0" rIns="0" bIns="0" rtlCol="0" anchor="ctr"/>
          <a:lstStyle/>
          <a:p>
            <a:pPr indent="0" marL="0">
              <a:buNone/>
            </a:pPr>
            <a:r>
              <a:rPr lang="en-US" sz="1400" dirty="0">
                <a:solidFill>
                  <a:schemeClr val="tx1"/>
                </a:solidFill>
              </a:rPr>
              <a:t>Book a table for four people</a:t>
            </a:r>
            <a:endParaRPr lang="en-US" sz="1400" dirty="0"/>
          </a:p>
        </p:txBody>
      </p:sp>
      <p:sp>
        <p:nvSpPr>
          <p:cNvPr id="15" name="card"/>
          <p:cNvSpPr/>
          <p:nvPr/>
        </p:nvSpPr>
        <p:spPr>
          <a:xfrm>
            <a:off x="3200400" y="2286000"/>
            <a:ext cx="2606040" cy="1051560"/>
          </a:xfrm>
          <a:prstGeom prst="roundRect">
            <a:avLst>
              <a:gd name="adj" fmla="val 10435"/>
            </a:avLst>
          </a:prstGeom>
          <a:solidFill>
            <a:schemeClr val="bg2"/>
          </a:solidFill>
          <a:ln w="12700">
            <a:solidFill>
              <a:schemeClr val="bg2"/>
            </a:solidFill>
            <a:prstDash val="solid"/>
          </a:ln>
        </p:spPr>
      </p:sp>
      <p:sp>
        <p:nvSpPr>
          <p:cNvPr id="16" name="icon circle"/>
          <p:cNvSpPr/>
          <p:nvPr/>
        </p:nvSpPr>
        <p:spPr>
          <a:xfrm>
            <a:off x="3337560" y="2560320"/>
            <a:ext cx="502920" cy="502920"/>
          </a:xfrm>
          <a:prstGeom prst="ellipse">
            <a:avLst/>
          </a:prstGeom>
          <a:solidFill>
            <a:schemeClr val="accent4"/>
          </a:solidFill>
          <a:ln w="12700">
            <a:solidFill>
              <a:schemeClr val="accent4"/>
            </a:solidFill>
            <a:prstDash val="solid"/>
          </a:ln>
        </p:spPr>
      </p:sp>
      <p:pic>
        <p:nvPicPr>
          <p:cNvPr id="17" name="icon" descr="preencoded.png">    </p:cNvPr>
          <p:cNvPicPr>
            <a:picLocks noChangeAspect="1"/>
          </p:cNvPicPr>
          <p:nvPr/>
        </p:nvPicPr>
        <p:blipFill>
          <a:blip r:embed="rId12"/>
          <a:stretch>
            <a:fillRect/>
          </a:stretch>
        </p:blipFill>
        <p:spPr>
          <a:xfrm>
            <a:off x="3473348" y="2696108"/>
            <a:ext cx="231343" cy="231343"/>
          </a:xfrm>
          <a:prstGeom prst="rect">
            <a:avLst/>
          </a:prstGeom>
        </p:spPr>
      </p:pic>
      <p:sp>
        <p:nvSpPr>
          <p:cNvPr id="18" name="Text 12"/>
          <p:cNvSpPr txBox="1"/>
          <p:nvPr/>
        </p:nvSpPr>
        <p:spPr>
          <a:xfrm>
            <a:off x="3950208" y="2286000"/>
            <a:ext cx="1783080" cy="1051560"/>
          </a:xfrm>
          <a:prstGeom prst="rect">
            <a:avLst/>
          </a:prstGeom>
          <a:noFill/>
          <a:ln/>
        </p:spPr>
        <p:txBody>
          <a:bodyPr wrap="square" lIns="0" tIns="0" rIns="0" bIns="0" rtlCol="0" anchor="ctr"/>
          <a:lstStyle/>
          <a:p>
            <a:pPr indent="0" marL="0">
              <a:buNone/>
            </a:pPr>
            <a:r>
              <a:rPr lang="en-US" sz="1400" dirty="0">
                <a:solidFill>
                  <a:schemeClr val="tx1"/>
                </a:solidFill>
              </a:rPr>
              <a:t>Plan a class trip together</a:t>
            </a:r>
            <a:endParaRPr lang="en-US" sz="1400" dirty="0"/>
          </a:p>
        </p:txBody>
      </p:sp>
      <p:sp>
        <p:nvSpPr>
          <p:cNvPr id="19" name="card"/>
          <p:cNvSpPr/>
          <p:nvPr/>
        </p:nvSpPr>
        <p:spPr>
          <a:xfrm>
            <a:off x="457200" y="3474720"/>
            <a:ext cx="2606040" cy="1051560"/>
          </a:xfrm>
          <a:prstGeom prst="roundRect">
            <a:avLst>
              <a:gd name="adj" fmla="val 10435"/>
            </a:avLst>
          </a:prstGeom>
          <a:solidFill>
            <a:schemeClr val="bg2"/>
          </a:solidFill>
          <a:ln w="12700">
            <a:solidFill>
              <a:schemeClr val="bg2"/>
            </a:solidFill>
            <a:prstDash val="solid"/>
          </a:ln>
        </p:spPr>
      </p:sp>
      <p:sp>
        <p:nvSpPr>
          <p:cNvPr id="20" name="icon circle"/>
          <p:cNvSpPr/>
          <p:nvPr/>
        </p:nvSpPr>
        <p:spPr>
          <a:xfrm>
            <a:off x="594360" y="3749040"/>
            <a:ext cx="502920" cy="502920"/>
          </a:xfrm>
          <a:prstGeom prst="ellipse">
            <a:avLst/>
          </a:prstGeom>
          <a:solidFill>
            <a:schemeClr val="accent5"/>
          </a:solidFill>
          <a:ln w="12700">
            <a:solidFill>
              <a:schemeClr val="accent5"/>
            </a:solidFill>
            <a:prstDash val="solid"/>
          </a:ln>
        </p:spPr>
      </p:sp>
      <p:pic>
        <p:nvPicPr>
          <p:cNvPr id="21" name="icon" descr="preencoded.png">    </p:cNvPr>
          <p:cNvPicPr>
            <a:picLocks noChangeAspect="1"/>
          </p:cNvPicPr>
          <p:nvPr/>
        </p:nvPicPr>
        <p:blipFill>
          <a:blip r:embed="rId13"/>
          <a:stretch>
            <a:fillRect/>
          </a:stretch>
        </p:blipFill>
        <p:spPr>
          <a:xfrm>
            <a:off x="730148" y="3884828"/>
            <a:ext cx="231343" cy="231343"/>
          </a:xfrm>
          <a:prstGeom prst="rect">
            <a:avLst/>
          </a:prstGeom>
        </p:spPr>
      </p:pic>
      <p:sp>
        <p:nvSpPr>
          <p:cNvPr id="22" name="Text 15"/>
          <p:cNvSpPr txBox="1"/>
          <p:nvPr/>
        </p:nvSpPr>
        <p:spPr>
          <a:xfrm>
            <a:off x="1207008" y="3474720"/>
            <a:ext cx="1783080" cy="1051560"/>
          </a:xfrm>
          <a:prstGeom prst="rect">
            <a:avLst/>
          </a:prstGeom>
          <a:noFill/>
          <a:ln/>
        </p:spPr>
        <p:txBody>
          <a:bodyPr wrap="square" lIns="0" tIns="0" rIns="0" bIns="0" rtlCol="0" anchor="ctr"/>
          <a:lstStyle/>
          <a:p>
            <a:pPr indent="0" marL="0">
              <a:buNone/>
            </a:pPr>
            <a:r>
              <a:rPr lang="en-US" sz="1400" dirty="0">
                <a:solidFill>
                  <a:schemeClr val="tx1"/>
                </a:solidFill>
              </a:rPr>
              <a:t>Buy a bus ticket to Bejaia</a:t>
            </a:r>
            <a:endParaRPr lang="en-US" sz="1400" dirty="0"/>
          </a:p>
        </p:txBody>
      </p:sp>
      <p:sp>
        <p:nvSpPr>
          <p:cNvPr id="23" name="card"/>
          <p:cNvSpPr/>
          <p:nvPr/>
        </p:nvSpPr>
        <p:spPr>
          <a:xfrm>
            <a:off x="3200400" y="3474720"/>
            <a:ext cx="2606040" cy="1051560"/>
          </a:xfrm>
          <a:prstGeom prst="roundRect">
            <a:avLst>
              <a:gd name="adj" fmla="val 10435"/>
            </a:avLst>
          </a:prstGeom>
          <a:solidFill>
            <a:schemeClr val="bg2"/>
          </a:solidFill>
          <a:ln w="12700">
            <a:solidFill>
              <a:schemeClr val="bg2"/>
            </a:solidFill>
            <a:prstDash val="solid"/>
          </a:ln>
        </p:spPr>
      </p:sp>
      <p:sp>
        <p:nvSpPr>
          <p:cNvPr id="24" name="icon circle"/>
          <p:cNvSpPr/>
          <p:nvPr/>
        </p:nvSpPr>
        <p:spPr>
          <a:xfrm>
            <a:off x="3337560" y="3749040"/>
            <a:ext cx="502920" cy="502920"/>
          </a:xfrm>
          <a:prstGeom prst="ellipse">
            <a:avLst/>
          </a:prstGeom>
          <a:solidFill>
            <a:schemeClr val="tx2"/>
          </a:solidFill>
          <a:ln w="12700">
            <a:solidFill>
              <a:schemeClr val="tx2"/>
            </a:solidFill>
            <a:prstDash val="solid"/>
          </a:ln>
        </p:spPr>
      </p:sp>
      <p:pic>
        <p:nvPicPr>
          <p:cNvPr id="25" name="icon" descr="preencoded.png">    </p:cNvPr>
          <p:cNvPicPr>
            <a:picLocks noChangeAspect="1"/>
          </p:cNvPicPr>
          <p:nvPr/>
        </p:nvPicPr>
        <p:blipFill>
          <a:blip r:embed="rId14"/>
          <a:stretch>
            <a:fillRect/>
          </a:stretch>
        </p:blipFill>
        <p:spPr>
          <a:xfrm>
            <a:off x="3473348" y="3884828"/>
            <a:ext cx="231343" cy="231343"/>
          </a:xfrm>
          <a:prstGeom prst="rect">
            <a:avLst/>
          </a:prstGeom>
        </p:spPr>
      </p:pic>
      <p:sp>
        <p:nvSpPr>
          <p:cNvPr id="26" name="Text 18"/>
          <p:cNvSpPr txBox="1"/>
          <p:nvPr/>
        </p:nvSpPr>
        <p:spPr>
          <a:xfrm>
            <a:off x="3950208" y="3474720"/>
            <a:ext cx="1783080" cy="1051560"/>
          </a:xfrm>
          <a:prstGeom prst="rect">
            <a:avLst/>
          </a:prstGeom>
          <a:noFill/>
          <a:ln/>
        </p:spPr>
        <p:txBody>
          <a:bodyPr wrap="square" lIns="0" tIns="0" rIns="0" bIns="0" rtlCol="0" anchor="ctr"/>
          <a:lstStyle/>
          <a:p>
            <a:pPr indent="0" marL="0">
              <a:buNone/>
            </a:pPr>
            <a:r>
              <a:rPr lang="en-US" sz="1400" dirty="0">
                <a:solidFill>
                  <a:schemeClr val="tx1"/>
                </a:solidFill>
              </a:rPr>
              <a:t>Ask your teacher for advice</a:t>
            </a:r>
            <a:endParaRPr lang="en-US" sz="1400" dirty="0"/>
          </a:p>
        </p:txBody>
      </p:sp>
      <p:sp>
        <p:nvSpPr>
          <p:cNvPr id="27" name="card"/>
          <p:cNvSpPr/>
          <p:nvPr/>
        </p:nvSpPr>
        <p:spPr>
          <a:xfrm>
            <a:off x="6035040" y="1097280"/>
            <a:ext cx="2651760" cy="3520440"/>
          </a:xfrm>
          <a:prstGeom prst="roundRect">
            <a:avLst>
              <a:gd name="adj" fmla="val 4138"/>
            </a:avLst>
          </a:prstGeom>
          <a:solidFill>
            <a:schemeClr val="accent3"/>
          </a:solidFill>
          <a:ln w="12700">
            <a:solidFill>
              <a:schemeClr val="accent3"/>
            </a:solidFill>
            <a:prstDash val="solid"/>
          </a:ln>
        </p:spPr>
      </p:sp>
      <p:sp>
        <p:nvSpPr>
          <p:cNvPr id="28" name="Text 20"/>
          <p:cNvSpPr txBox="1"/>
          <p:nvPr/>
        </p:nvSpPr>
        <p:spPr>
          <a:xfrm>
            <a:off x="6263640" y="1280160"/>
            <a:ext cx="2194560" cy="365760"/>
          </a:xfrm>
          <a:prstGeom prst="rect">
            <a:avLst/>
          </a:prstGeom>
          <a:noFill/>
          <a:ln/>
        </p:spPr>
        <p:txBody>
          <a:bodyPr wrap="square" lIns="0" tIns="0" rIns="0" bIns="0" rtlCol="0" anchor="t"/>
          <a:lstStyle/>
          <a:p>
            <a:pPr indent="0" marL="0">
              <a:buNone/>
            </a:pPr>
            <a:r>
              <a:rPr lang="en-US" sz="1600" b="1" dirty="0">
                <a:solidFill>
                  <a:schemeClr val="bg1"/>
                </a:solidFill>
              </a:rPr>
              <a:t>How to play</a:t>
            </a:r>
            <a:endParaRPr lang="en-US" sz="1600" dirty="0"/>
          </a:p>
        </p:txBody>
      </p:sp>
      <p:sp>
        <p:nvSpPr>
          <p:cNvPr id="29" name="Text 21"/>
          <p:cNvSpPr txBox="1"/>
          <p:nvPr/>
        </p:nvSpPr>
        <p:spPr>
          <a:xfrm>
            <a:off x="6263640" y="1737360"/>
            <a:ext cx="22402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Work in pairs.</a:t>
            </a:r>
            <a:endParaRPr lang="en-US" sz="1400" dirty="0"/>
          </a:p>
          <a:p>
            <a:pPr marL="342900" indent="-342900">
              <a:spcAft>
                <a:spcPts val="600"/>
              </a:spcAft>
              <a:buSzPct val="100000"/>
              <a:buChar char="•"/>
            </a:pPr>
            <a:r>
              <a:rPr lang="en-US" sz="1400" dirty="0">
                <a:solidFill>
                  <a:schemeClr val="bg1"/>
                </a:solidFill>
              </a:rPr>
              <a:t>Pick a card.</a:t>
            </a:r>
            <a:endParaRPr lang="en-US" sz="1400" dirty="0"/>
          </a:p>
          <a:p>
            <a:pPr marL="342900" indent="-342900">
              <a:spcAft>
                <a:spcPts val="600"/>
              </a:spcAft>
              <a:buSzPct val="100000"/>
              <a:buChar char="•"/>
            </a:pPr>
            <a:r>
              <a:rPr lang="en-US" sz="1400" dirty="0">
                <a:solidFill>
                  <a:schemeClr val="bg1"/>
                </a:solidFill>
              </a:rPr>
              <a:t>Prepare for 3 minutes (no writing!).</a:t>
            </a:r>
            <a:endParaRPr lang="en-US" sz="1400" dirty="0"/>
          </a:p>
          <a:p>
            <a:pPr marL="342900" indent="-342900">
              <a:spcAft>
                <a:spcPts val="600"/>
              </a:spcAft>
              <a:buSzPct val="100000"/>
              <a:buChar char="•"/>
            </a:pPr>
            <a:r>
              <a:rPr lang="en-US" sz="1400" dirty="0">
                <a:solidFill>
                  <a:schemeClr val="bg1"/>
                </a:solidFill>
              </a:rPr>
              <a:t>Act it out: 6–8 lines.</a:t>
            </a:r>
            <a:endParaRPr lang="en-US" sz="1400" dirty="0"/>
          </a:p>
          <a:p>
            <a:pPr marL="342900" indent="-342900">
              <a:spcAft>
                <a:spcPts val="600"/>
              </a:spcAft>
              <a:buSzPct val="100000"/>
              <a:buChar char="•"/>
            </a:pPr>
            <a:r>
              <a:rPr lang="en-US" sz="1400" dirty="0">
                <a:solidFill>
                  <a:schemeClr val="bg1"/>
                </a:solidFill>
              </a:rPr>
              <a:t>The class guesses the situation.</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Scenario: Plan Your Week Together</a:t>
            </a:r>
            <a:endParaRPr lang="en-US" sz="3000" dirty="0"/>
          </a:p>
        </p:txBody>
      </p:sp>
      <p:sp>
        <p:nvSpPr>
          <p:cNvPr id="3" name="card"/>
          <p:cNvSpPr/>
          <p:nvPr/>
        </p:nvSpPr>
        <p:spPr>
          <a:xfrm>
            <a:off x="457200" y="1097280"/>
            <a:ext cx="1920240" cy="2286000"/>
          </a:xfrm>
          <a:prstGeom prst="roundRect">
            <a:avLst>
              <a:gd name="adj" fmla="val 5714"/>
            </a:avLst>
          </a:prstGeom>
          <a:solidFill>
            <a:schemeClr val="bg2"/>
          </a:solidFill>
          <a:ln w="12700">
            <a:solidFill>
              <a:schemeClr val="bg2"/>
            </a:solidFill>
            <a:prstDash val="solid"/>
          </a:ln>
        </p:spPr>
      </p:sp>
      <p:sp>
        <p:nvSpPr>
          <p:cNvPr id="4" name="Text 2"/>
          <p:cNvSpPr txBox="1"/>
          <p:nvPr/>
        </p:nvSpPr>
        <p:spPr>
          <a:xfrm>
            <a:off x="594360" y="1188720"/>
            <a:ext cx="365760" cy="320040"/>
          </a:xfrm>
          <a:prstGeom prst="rect">
            <a:avLst/>
          </a:prstGeom>
          <a:noFill/>
          <a:ln/>
        </p:spPr>
        <p:txBody>
          <a:bodyPr wrap="square" lIns="0" tIns="0" rIns="0" bIns="0" rtlCol="0" anchor="t"/>
          <a:lstStyle/>
          <a:p>
            <a:pPr indent="0" marL="0">
              <a:buNone/>
            </a:pPr>
            <a:r>
              <a:rPr lang="en-US" sz="1400" b="1" dirty="0">
                <a:solidFill>
                  <a:schemeClr val="accent1"/>
                </a:solidFill>
              </a:rPr>
              <a:t>1</a:t>
            </a:r>
            <a:endParaRPr lang="en-US" sz="1400" dirty="0"/>
          </a:p>
        </p:txBody>
      </p:sp>
      <p:sp>
        <p:nvSpPr>
          <p:cNvPr id="5" name="icon circle"/>
          <p:cNvSpPr/>
          <p:nvPr/>
        </p:nvSpPr>
        <p:spPr>
          <a:xfrm>
            <a:off x="914400" y="1371600"/>
            <a:ext cx="1005840" cy="100584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7"/>
          <a:stretch>
            <a:fillRect/>
          </a:stretch>
        </p:blipFill>
        <p:spPr>
          <a:xfrm>
            <a:off x="1185977" y="1643177"/>
            <a:ext cx="462686" cy="462686"/>
          </a:xfrm>
          <a:prstGeom prst="rect">
            <a:avLst/>
          </a:prstGeom>
        </p:spPr>
      </p:pic>
      <p:sp>
        <p:nvSpPr>
          <p:cNvPr id="7" name="Text 4"/>
          <p:cNvSpPr txBox="1"/>
          <p:nvPr/>
        </p:nvSpPr>
        <p:spPr>
          <a:xfrm>
            <a:off x="54864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Mon: visit grandma</a:t>
            </a:r>
            <a:endParaRPr lang="en-US" sz="1500" dirty="0"/>
          </a:p>
        </p:txBody>
      </p:sp>
      <p:sp>
        <p:nvSpPr>
          <p:cNvPr id="8" name="card"/>
          <p:cNvSpPr/>
          <p:nvPr/>
        </p:nvSpPr>
        <p:spPr>
          <a:xfrm>
            <a:off x="2560320" y="1097280"/>
            <a:ext cx="1920240" cy="228600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2697480" y="1188720"/>
            <a:ext cx="365760" cy="320040"/>
          </a:xfrm>
          <a:prstGeom prst="rect">
            <a:avLst/>
          </a:prstGeom>
          <a:noFill/>
          <a:ln/>
        </p:spPr>
        <p:txBody>
          <a:bodyPr wrap="square" lIns="0" tIns="0" rIns="0" bIns="0" rtlCol="0" anchor="t"/>
          <a:lstStyle/>
          <a:p>
            <a:pPr indent="0" marL="0">
              <a:buNone/>
            </a:pPr>
            <a:r>
              <a:rPr lang="en-US" sz="1400" b="1" dirty="0">
                <a:solidFill>
                  <a:schemeClr val="accent2"/>
                </a:solidFill>
              </a:rPr>
              <a:t>2</a:t>
            </a:r>
            <a:endParaRPr lang="en-US" sz="1400" dirty="0"/>
          </a:p>
        </p:txBody>
      </p:sp>
      <p:sp>
        <p:nvSpPr>
          <p:cNvPr id="10" name="icon circle"/>
          <p:cNvSpPr/>
          <p:nvPr/>
        </p:nvSpPr>
        <p:spPr>
          <a:xfrm>
            <a:off x="3017520" y="1371600"/>
            <a:ext cx="1005840" cy="100584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8"/>
          <a:stretch>
            <a:fillRect/>
          </a:stretch>
        </p:blipFill>
        <p:spPr>
          <a:xfrm>
            <a:off x="3289097" y="1643177"/>
            <a:ext cx="462686" cy="462686"/>
          </a:xfrm>
          <a:prstGeom prst="rect">
            <a:avLst/>
          </a:prstGeom>
        </p:spPr>
      </p:pic>
      <p:sp>
        <p:nvSpPr>
          <p:cNvPr id="12" name="Text 8"/>
          <p:cNvSpPr txBox="1"/>
          <p:nvPr/>
        </p:nvSpPr>
        <p:spPr>
          <a:xfrm>
            <a:off x="265176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Wed: dentist at 4</a:t>
            </a:r>
            <a:endParaRPr lang="en-US" sz="1500" dirty="0"/>
          </a:p>
        </p:txBody>
      </p:sp>
      <p:sp>
        <p:nvSpPr>
          <p:cNvPr id="13" name="card"/>
          <p:cNvSpPr/>
          <p:nvPr/>
        </p:nvSpPr>
        <p:spPr>
          <a:xfrm>
            <a:off x="4663440" y="1097280"/>
            <a:ext cx="1920240" cy="2286000"/>
          </a:xfrm>
          <a:prstGeom prst="roundRect">
            <a:avLst>
              <a:gd name="adj" fmla="val 5714"/>
            </a:avLst>
          </a:prstGeom>
          <a:solidFill>
            <a:schemeClr val="bg2"/>
          </a:solidFill>
          <a:ln w="12700">
            <a:solidFill>
              <a:schemeClr val="bg2"/>
            </a:solidFill>
            <a:prstDash val="solid"/>
          </a:ln>
        </p:spPr>
      </p:sp>
      <p:sp>
        <p:nvSpPr>
          <p:cNvPr id="14" name="Text 10"/>
          <p:cNvSpPr txBox="1"/>
          <p:nvPr/>
        </p:nvSpPr>
        <p:spPr>
          <a:xfrm>
            <a:off x="4800600" y="1188720"/>
            <a:ext cx="365760" cy="320040"/>
          </a:xfrm>
          <a:prstGeom prst="rect">
            <a:avLst/>
          </a:prstGeom>
          <a:noFill/>
          <a:ln/>
        </p:spPr>
        <p:txBody>
          <a:bodyPr wrap="square" lIns="0" tIns="0" rIns="0" bIns="0" rtlCol="0" anchor="t"/>
          <a:lstStyle/>
          <a:p>
            <a:pPr indent="0" marL="0">
              <a:buNone/>
            </a:pPr>
            <a:r>
              <a:rPr lang="en-US" sz="1400" b="1" dirty="0">
                <a:solidFill>
                  <a:schemeClr val="accent3"/>
                </a:solidFill>
              </a:rPr>
              <a:t>3</a:t>
            </a:r>
            <a:endParaRPr lang="en-US" sz="1400" dirty="0"/>
          </a:p>
        </p:txBody>
      </p:sp>
      <p:sp>
        <p:nvSpPr>
          <p:cNvPr id="15" name="icon circle"/>
          <p:cNvSpPr/>
          <p:nvPr/>
        </p:nvSpPr>
        <p:spPr>
          <a:xfrm>
            <a:off x="5120640" y="1371600"/>
            <a:ext cx="1005840" cy="1005840"/>
          </a:xfrm>
          <a:prstGeom prst="ellipse">
            <a:avLst/>
          </a:prstGeom>
          <a:solidFill>
            <a:schemeClr val="accent3"/>
          </a:solidFill>
          <a:ln w="12700">
            <a:solidFill>
              <a:schemeClr val="accent3"/>
            </a:solidFill>
            <a:prstDash val="solid"/>
          </a:ln>
        </p:spPr>
      </p:sp>
      <p:pic>
        <p:nvPicPr>
          <p:cNvPr id="16" name="icon" descr="preencoded.png">    </p:cNvPr>
          <p:cNvPicPr>
            <a:picLocks noChangeAspect="1"/>
          </p:cNvPicPr>
          <p:nvPr/>
        </p:nvPicPr>
        <p:blipFill>
          <a:blip r:embed="rId9"/>
          <a:stretch>
            <a:fillRect/>
          </a:stretch>
        </p:blipFill>
        <p:spPr>
          <a:xfrm>
            <a:off x="5392217" y="1643177"/>
            <a:ext cx="462686" cy="462686"/>
          </a:xfrm>
          <a:prstGeom prst="rect">
            <a:avLst/>
          </a:prstGeom>
        </p:spPr>
      </p:pic>
      <p:sp>
        <p:nvSpPr>
          <p:cNvPr id="17" name="Text 12"/>
          <p:cNvSpPr txBox="1"/>
          <p:nvPr/>
        </p:nvSpPr>
        <p:spPr>
          <a:xfrm>
            <a:off x="475488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Fri: football match</a:t>
            </a:r>
            <a:endParaRPr lang="en-US" sz="1500" dirty="0"/>
          </a:p>
        </p:txBody>
      </p:sp>
      <p:sp>
        <p:nvSpPr>
          <p:cNvPr id="18" name="card"/>
          <p:cNvSpPr/>
          <p:nvPr/>
        </p:nvSpPr>
        <p:spPr>
          <a:xfrm>
            <a:off x="6766560" y="1097280"/>
            <a:ext cx="1920240" cy="2286000"/>
          </a:xfrm>
          <a:prstGeom prst="roundRect">
            <a:avLst>
              <a:gd name="adj" fmla="val 5714"/>
            </a:avLst>
          </a:prstGeom>
          <a:solidFill>
            <a:schemeClr val="bg2"/>
          </a:solidFill>
          <a:ln w="12700">
            <a:solidFill>
              <a:schemeClr val="bg2"/>
            </a:solidFill>
            <a:prstDash val="solid"/>
          </a:ln>
        </p:spPr>
      </p:sp>
      <p:sp>
        <p:nvSpPr>
          <p:cNvPr id="19" name="Text 14"/>
          <p:cNvSpPr txBox="1"/>
          <p:nvPr/>
        </p:nvSpPr>
        <p:spPr>
          <a:xfrm>
            <a:off x="6903720" y="1188720"/>
            <a:ext cx="365760" cy="320040"/>
          </a:xfrm>
          <a:prstGeom prst="rect">
            <a:avLst/>
          </a:prstGeom>
          <a:noFill/>
          <a:ln/>
        </p:spPr>
        <p:txBody>
          <a:bodyPr wrap="square" lIns="0" tIns="0" rIns="0" bIns="0" rtlCol="0" anchor="t"/>
          <a:lstStyle/>
          <a:p>
            <a:pPr indent="0" marL="0">
              <a:buNone/>
            </a:pPr>
            <a:r>
              <a:rPr lang="en-US" sz="1400" b="1" dirty="0">
                <a:solidFill>
                  <a:schemeClr val="accent4"/>
                </a:solidFill>
              </a:rPr>
              <a:t>4</a:t>
            </a:r>
            <a:endParaRPr lang="en-US" sz="1400" dirty="0"/>
          </a:p>
        </p:txBody>
      </p:sp>
      <p:sp>
        <p:nvSpPr>
          <p:cNvPr id="20" name="icon circle"/>
          <p:cNvSpPr/>
          <p:nvPr/>
        </p:nvSpPr>
        <p:spPr>
          <a:xfrm>
            <a:off x="7223760" y="1371600"/>
            <a:ext cx="1005840" cy="1005840"/>
          </a:xfrm>
          <a:prstGeom prst="ellipse">
            <a:avLst/>
          </a:prstGeom>
          <a:solidFill>
            <a:schemeClr val="accent4"/>
          </a:solidFill>
          <a:ln w="12700">
            <a:solidFill>
              <a:schemeClr val="accent4"/>
            </a:solidFill>
            <a:prstDash val="solid"/>
          </a:ln>
        </p:spPr>
      </p:sp>
      <p:pic>
        <p:nvPicPr>
          <p:cNvPr id="21" name="icon" descr="preencoded.png">    </p:cNvPr>
          <p:cNvPicPr>
            <a:picLocks noChangeAspect="1"/>
          </p:cNvPicPr>
          <p:nvPr/>
        </p:nvPicPr>
        <p:blipFill>
          <a:blip r:embed="rId10"/>
          <a:stretch>
            <a:fillRect/>
          </a:stretch>
        </p:blipFill>
        <p:spPr>
          <a:xfrm>
            <a:off x="7495337" y="1643177"/>
            <a:ext cx="462686" cy="462686"/>
          </a:xfrm>
          <a:prstGeom prst="rect">
            <a:avLst/>
          </a:prstGeom>
        </p:spPr>
      </p:pic>
      <p:sp>
        <p:nvSpPr>
          <p:cNvPr id="22" name="Text 16"/>
          <p:cNvSpPr txBox="1"/>
          <p:nvPr/>
        </p:nvSpPr>
        <p:spPr>
          <a:xfrm>
            <a:off x="6858000" y="2606040"/>
            <a:ext cx="1737360" cy="548640"/>
          </a:xfrm>
          <a:prstGeom prst="rect">
            <a:avLst/>
          </a:prstGeom>
          <a:noFill/>
          <a:ln/>
        </p:spPr>
        <p:txBody>
          <a:bodyPr wrap="square" lIns="0" tIns="0" rIns="0" bIns="0" rtlCol="0" anchor="ctr"/>
          <a:lstStyle/>
          <a:p>
            <a:pPr algn="ctr" indent="0" marL="0">
              <a:buNone/>
            </a:pPr>
            <a:r>
              <a:rPr lang="en-US" sz="1500" b="1" dirty="0">
                <a:solidFill>
                  <a:schemeClr val="tx2"/>
                </a:solidFill>
              </a:rPr>
              <a:t>Sat: free!</a:t>
            </a:r>
            <a:endParaRPr lang="en-US" sz="1500" dirty="0"/>
          </a:p>
        </p:txBody>
      </p:sp>
      <p:sp>
        <p:nvSpPr>
          <p:cNvPr id="23" name="card"/>
          <p:cNvSpPr/>
          <p:nvPr/>
        </p:nvSpPr>
        <p:spPr>
          <a:xfrm>
            <a:off x="457200" y="3566160"/>
            <a:ext cx="8229600" cy="1051560"/>
          </a:xfrm>
          <a:prstGeom prst="roundRect">
            <a:avLst>
              <a:gd name="adj" fmla="val 10435"/>
            </a:avLst>
          </a:prstGeom>
          <a:solidFill>
            <a:schemeClr val="tx2"/>
          </a:solidFill>
          <a:ln w="12700">
            <a:solidFill>
              <a:schemeClr val="tx2"/>
            </a:solidFill>
            <a:prstDash val="solid"/>
          </a:ln>
        </p:spPr>
      </p:sp>
      <p:sp>
        <p:nvSpPr>
          <p:cNvPr id="24" name="Text 18"/>
          <p:cNvSpPr txBox="1"/>
          <p:nvPr/>
        </p:nvSpPr>
        <p:spPr>
          <a:xfrm>
            <a:off x="685800" y="3566160"/>
            <a:ext cx="1737360" cy="1051560"/>
          </a:xfrm>
          <a:prstGeom prst="rect">
            <a:avLst/>
          </a:prstGeom>
          <a:noFill/>
          <a:ln/>
        </p:spPr>
        <p:txBody>
          <a:bodyPr wrap="square" lIns="0" tIns="0" rIns="0" bIns="0" rtlCol="0" anchor="ctr"/>
          <a:lstStyle/>
          <a:p>
            <a:pPr indent="0" marL="0">
              <a:buNone/>
            </a:pPr>
            <a:r>
              <a:rPr lang="en-US" sz="1600" b="1" dirty="0">
                <a:solidFill>
                  <a:schemeClr val="accent2"/>
                </a:solidFill>
              </a:rPr>
              <a:t>Task</a:t>
            </a:r>
            <a:endParaRPr lang="en-US" sz="1600" dirty="0"/>
          </a:p>
        </p:txBody>
      </p:sp>
      <p:sp>
        <p:nvSpPr>
          <p:cNvPr id="25" name="Text 19"/>
          <p:cNvSpPr txBox="1"/>
          <p:nvPr/>
        </p:nvSpPr>
        <p:spPr>
          <a:xfrm>
            <a:off x="2468880" y="3566160"/>
            <a:ext cx="6035040" cy="1051560"/>
          </a:xfrm>
          <a:prstGeom prst="rect">
            <a:avLst/>
          </a:prstGeom>
          <a:noFill/>
          <a:ln/>
        </p:spPr>
        <p:txBody>
          <a:bodyPr wrap="square" lIns="0" tIns="0" rIns="0" bIns="0" rtlCol="0" anchor="ctr"/>
          <a:lstStyle/>
          <a:p>
            <a:pPr indent="0" marL="0">
              <a:buNone/>
            </a:pPr>
            <a:r>
              <a:rPr lang="en-US" sz="1500" i="1" dirty="0">
                <a:solidFill>
                  <a:schemeClr val="bg1"/>
                </a:solidFill>
              </a:rPr>
              <a:t>Make your own diary, then find a free time with your partner: "I'm visiting my grandma on Monday. Are you free on Saturday?"</a:t>
            </a:r>
            <a:endParaRPr lang="en-US" sz="15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Final Task: Write and Perform a Dialogue</a:t>
            </a:r>
            <a:endParaRPr lang="en-US" sz="3000" dirty="0"/>
          </a:p>
        </p:txBody>
      </p:sp>
      <p:sp>
        <p:nvSpPr>
          <p:cNvPr id="3" name="card"/>
          <p:cNvSpPr/>
          <p:nvPr/>
        </p:nvSpPr>
        <p:spPr>
          <a:xfrm>
            <a:off x="457200" y="1097280"/>
            <a:ext cx="4206240" cy="1051560"/>
          </a:xfrm>
          <a:prstGeom prst="roundRect">
            <a:avLst>
              <a:gd name="adj" fmla="val 10435"/>
            </a:avLst>
          </a:prstGeom>
          <a:solidFill>
            <a:schemeClr val="bg2"/>
          </a:solidFill>
          <a:ln w="12700">
            <a:solidFill>
              <a:schemeClr val="bg2"/>
            </a:solidFill>
            <a:prstDash val="solid"/>
          </a:ln>
        </p:spPr>
      </p:sp>
      <p:sp>
        <p:nvSpPr>
          <p:cNvPr id="4" name="icon circle"/>
          <p:cNvSpPr/>
          <p:nvPr/>
        </p:nvSpPr>
        <p:spPr>
          <a:xfrm>
            <a:off x="640080" y="1325880"/>
            <a:ext cx="594360" cy="5943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00557" y="1486357"/>
            <a:ext cx="273406" cy="273406"/>
          </a:xfrm>
          <a:prstGeom prst="rect">
            <a:avLst/>
          </a:prstGeom>
        </p:spPr>
      </p:pic>
      <p:sp>
        <p:nvSpPr>
          <p:cNvPr id="6" name="Text 3"/>
          <p:cNvSpPr txBox="1"/>
          <p:nvPr/>
        </p:nvSpPr>
        <p:spPr>
          <a:xfrm>
            <a:off x="1417320" y="1234440"/>
            <a:ext cx="3108960" cy="365760"/>
          </a:xfrm>
          <a:prstGeom prst="rect">
            <a:avLst/>
          </a:prstGeom>
          <a:noFill/>
          <a:ln/>
        </p:spPr>
        <p:txBody>
          <a:bodyPr wrap="square" lIns="0" tIns="0" rIns="0" bIns="0" rtlCol="0" anchor="t"/>
          <a:lstStyle/>
          <a:p>
            <a:pPr indent="0" marL="0">
              <a:buNone/>
            </a:pPr>
            <a:r>
              <a:rPr lang="en-US" sz="1600" b="1" dirty="0">
                <a:solidFill>
                  <a:schemeClr val="tx2"/>
                </a:solidFill>
              </a:rPr>
              <a:t>1. Choose</a:t>
            </a:r>
            <a:endParaRPr lang="en-US" sz="1600" dirty="0"/>
          </a:p>
        </p:txBody>
      </p:sp>
      <p:sp>
        <p:nvSpPr>
          <p:cNvPr id="7" name="Text 4"/>
          <p:cNvSpPr txBox="1"/>
          <p:nvPr/>
        </p:nvSpPr>
        <p:spPr>
          <a:xfrm>
            <a:off x="1417320" y="1600200"/>
            <a:ext cx="3108960" cy="411480"/>
          </a:xfrm>
          <a:prstGeom prst="rect">
            <a:avLst/>
          </a:prstGeom>
          <a:noFill/>
          <a:ln/>
        </p:spPr>
        <p:txBody>
          <a:bodyPr wrap="square" lIns="0" tIns="0" rIns="0" bIns="0" rtlCol="0" anchor="t"/>
          <a:lstStyle/>
          <a:p>
            <a:pPr indent="0" marL="0">
              <a:buNone/>
            </a:pPr>
            <a:r>
              <a:rPr lang="en-US" sz="1400" dirty="0">
                <a:solidFill>
                  <a:schemeClr val="tx1"/>
                </a:solidFill>
              </a:rPr>
              <a:t>Pick a scenario and your roles</a:t>
            </a:r>
            <a:endParaRPr lang="en-US" sz="1400" dirty="0"/>
          </a:p>
        </p:txBody>
      </p:sp>
      <p:sp>
        <p:nvSpPr>
          <p:cNvPr id="8" name="card"/>
          <p:cNvSpPr/>
          <p:nvPr/>
        </p:nvSpPr>
        <p:spPr>
          <a:xfrm>
            <a:off x="457200" y="2286000"/>
            <a:ext cx="4206240" cy="1051560"/>
          </a:xfrm>
          <a:prstGeom prst="roundRect">
            <a:avLst>
              <a:gd name="adj" fmla="val 10435"/>
            </a:avLst>
          </a:prstGeom>
          <a:solidFill>
            <a:schemeClr val="bg2"/>
          </a:solidFill>
          <a:ln w="12700">
            <a:solidFill>
              <a:schemeClr val="bg2"/>
            </a:solidFill>
            <a:prstDash val="solid"/>
          </a:ln>
        </p:spPr>
      </p:sp>
      <p:sp>
        <p:nvSpPr>
          <p:cNvPr id="9" name="icon circle"/>
          <p:cNvSpPr/>
          <p:nvPr/>
        </p:nvSpPr>
        <p:spPr>
          <a:xfrm>
            <a:off x="640080" y="2514600"/>
            <a:ext cx="594360" cy="59436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11"/>
          <a:stretch>
            <a:fillRect/>
          </a:stretch>
        </p:blipFill>
        <p:spPr>
          <a:xfrm>
            <a:off x="800557" y="2675077"/>
            <a:ext cx="273406" cy="273406"/>
          </a:xfrm>
          <a:prstGeom prst="rect">
            <a:avLst/>
          </a:prstGeom>
        </p:spPr>
      </p:pic>
      <p:sp>
        <p:nvSpPr>
          <p:cNvPr id="11" name="Text 7"/>
          <p:cNvSpPr txBox="1"/>
          <p:nvPr/>
        </p:nvSpPr>
        <p:spPr>
          <a:xfrm>
            <a:off x="1417320" y="2423160"/>
            <a:ext cx="3108960" cy="365760"/>
          </a:xfrm>
          <a:prstGeom prst="rect">
            <a:avLst/>
          </a:prstGeom>
          <a:noFill/>
          <a:ln/>
        </p:spPr>
        <p:txBody>
          <a:bodyPr wrap="square" lIns="0" tIns="0" rIns="0" bIns="0" rtlCol="0" anchor="t"/>
          <a:lstStyle/>
          <a:p>
            <a:pPr indent="0" marL="0">
              <a:buNone/>
            </a:pPr>
            <a:r>
              <a:rPr lang="en-US" sz="1600" b="1" dirty="0">
                <a:solidFill>
                  <a:schemeClr val="tx2"/>
                </a:solidFill>
              </a:rPr>
              <a:t>2. Write</a:t>
            </a:r>
            <a:endParaRPr lang="en-US" sz="1600" dirty="0"/>
          </a:p>
        </p:txBody>
      </p:sp>
      <p:sp>
        <p:nvSpPr>
          <p:cNvPr id="12" name="Text 8"/>
          <p:cNvSpPr txBox="1"/>
          <p:nvPr/>
        </p:nvSpPr>
        <p:spPr>
          <a:xfrm>
            <a:off x="1417320" y="2788920"/>
            <a:ext cx="3108960" cy="411480"/>
          </a:xfrm>
          <a:prstGeom prst="rect">
            <a:avLst/>
          </a:prstGeom>
          <a:noFill/>
          <a:ln/>
        </p:spPr>
        <p:txBody>
          <a:bodyPr wrap="square" lIns="0" tIns="0" rIns="0" bIns="0" rtlCol="0" anchor="t"/>
          <a:lstStyle/>
          <a:p>
            <a:pPr indent="0" marL="0">
              <a:buNone/>
            </a:pPr>
            <a:r>
              <a:rPr lang="en-US" sz="1400" dirty="0">
                <a:solidFill>
                  <a:schemeClr val="tx1"/>
                </a:solidFill>
              </a:rPr>
              <a:t>Write 8–10 lines together</a:t>
            </a:r>
            <a:endParaRPr lang="en-US" sz="1400" dirty="0"/>
          </a:p>
        </p:txBody>
      </p:sp>
      <p:sp>
        <p:nvSpPr>
          <p:cNvPr id="13" name="card"/>
          <p:cNvSpPr/>
          <p:nvPr/>
        </p:nvSpPr>
        <p:spPr>
          <a:xfrm>
            <a:off x="457200" y="3474720"/>
            <a:ext cx="4206240" cy="1051560"/>
          </a:xfrm>
          <a:prstGeom prst="roundRect">
            <a:avLst>
              <a:gd name="adj" fmla="val 10435"/>
            </a:avLst>
          </a:prstGeom>
          <a:solidFill>
            <a:schemeClr val="bg2"/>
          </a:solidFill>
          <a:ln w="12700">
            <a:solidFill>
              <a:schemeClr val="bg2"/>
            </a:solidFill>
            <a:prstDash val="solid"/>
          </a:ln>
        </p:spPr>
      </p:sp>
      <p:sp>
        <p:nvSpPr>
          <p:cNvPr id="14" name="icon circle"/>
          <p:cNvSpPr/>
          <p:nvPr/>
        </p:nvSpPr>
        <p:spPr>
          <a:xfrm>
            <a:off x="640080" y="3703320"/>
            <a:ext cx="594360" cy="594360"/>
          </a:xfrm>
          <a:prstGeom prst="ellipse">
            <a:avLst/>
          </a:prstGeom>
          <a:solidFill>
            <a:schemeClr val="accent3"/>
          </a:solidFill>
          <a:ln w="12700">
            <a:solidFill>
              <a:schemeClr val="accent3"/>
            </a:solidFill>
            <a:prstDash val="solid"/>
          </a:ln>
        </p:spPr>
      </p:sp>
      <p:pic>
        <p:nvPicPr>
          <p:cNvPr id="15" name="icon" descr="preencoded.png">    </p:cNvPr>
          <p:cNvPicPr>
            <a:picLocks noChangeAspect="1"/>
          </p:cNvPicPr>
          <p:nvPr/>
        </p:nvPicPr>
        <p:blipFill>
          <a:blip r:embed="rId3"/>
          <a:stretch>
            <a:fillRect/>
          </a:stretch>
        </p:blipFill>
        <p:spPr>
          <a:xfrm>
            <a:off x="800557" y="3863797"/>
            <a:ext cx="273406" cy="273406"/>
          </a:xfrm>
          <a:prstGeom prst="rect">
            <a:avLst/>
          </a:prstGeom>
        </p:spPr>
      </p:pic>
      <p:sp>
        <p:nvSpPr>
          <p:cNvPr id="16" name="Text 11"/>
          <p:cNvSpPr txBox="1"/>
          <p:nvPr/>
        </p:nvSpPr>
        <p:spPr>
          <a:xfrm>
            <a:off x="1417320" y="3611880"/>
            <a:ext cx="3108960" cy="365760"/>
          </a:xfrm>
          <a:prstGeom prst="rect">
            <a:avLst/>
          </a:prstGeom>
          <a:noFill/>
          <a:ln/>
        </p:spPr>
        <p:txBody>
          <a:bodyPr wrap="square" lIns="0" tIns="0" rIns="0" bIns="0" rtlCol="0" anchor="t"/>
          <a:lstStyle/>
          <a:p>
            <a:pPr indent="0" marL="0">
              <a:buNone/>
            </a:pPr>
            <a:r>
              <a:rPr lang="en-US" sz="1600" b="1" dirty="0">
                <a:solidFill>
                  <a:schemeClr val="tx2"/>
                </a:solidFill>
              </a:rPr>
              <a:t>3. Perform</a:t>
            </a:r>
            <a:endParaRPr lang="en-US" sz="1600" dirty="0"/>
          </a:p>
        </p:txBody>
      </p:sp>
      <p:sp>
        <p:nvSpPr>
          <p:cNvPr id="17" name="Text 12"/>
          <p:cNvSpPr txBox="1"/>
          <p:nvPr/>
        </p:nvSpPr>
        <p:spPr>
          <a:xfrm>
            <a:off x="1417320" y="3977640"/>
            <a:ext cx="3108960" cy="411480"/>
          </a:xfrm>
          <a:prstGeom prst="rect">
            <a:avLst/>
          </a:prstGeom>
          <a:noFill/>
          <a:ln/>
        </p:spPr>
        <p:txBody>
          <a:bodyPr wrap="square" lIns="0" tIns="0" rIns="0" bIns="0" rtlCol="0" anchor="t"/>
          <a:lstStyle/>
          <a:p>
            <a:pPr indent="0" marL="0">
              <a:buNone/>
            </a:pPr>
            <a:r>
              <a:rPr lang="en-US" sz="1400" dirty="0">
                <a:solidFill>
                  <a:schemeClr val="tx1"/>
                </a:solidFill>
              </a:rPr>
              <a:t>Act it out without reading</a:t>
            </a:r>
            <a:endParaRPr lang="en-US" sz="1400" dirty="0"/>
          </a:p>
        </p:txBody>
      </p:sp>
      <p:sp>
        <p:nvSpPr>
          <p:cNvPr id="18" name="card"/>
          <p:cNvSpPr/>
          <p:nvPr/>
        </p:nvSpPr>
        <p:spPr>
          <a:xfrm>
            <a:off x="4937760" y="1097280"/>
            <a:ext cx="3749040" cy="3429000"/>
          </a:xfrm>
          <a:prstGeom prst="roundRect">
            <a:avLst>
              <a:gd name="adj" fmla="val 3200"/>
            </a:avLst>
          </a:prstGeom>
          <a:solidFill>
            <a:schemeClr val="tx2"/>
          </a:solidFill>
          <a:ln w="12700">
            <a:solidFill>
              <a:schemeClr val="tx2"/>
            </a:solidFill>
            <a:prstDash val="solid"/>
          </a:ln>
        </p:spPr>
      </p:sp>
      <p:sp>
        <p:nvSpPr>
          <p:cNvPr id="19" name="Text 14"/>
          <p:cNvSpPr txBox="1"/>
          <p:nvPr/>
        </p:nvSpPr>
        <p:spPr>
          <a:xfrm>
            <a:off x="5166360" y="1280160"/>
            <a:ext cx="3291840" cy="365760"/>
          </a:xfrm>
          <a:prstGeom prst="rect">
            <a:avLst/>
          </a:prstGeom>
          <a:noFill/>
          <a:ln/>
        </p:spPr>
        <p:txBody>
          <a:bodyPr wrap="square" lIns="0" tIns="0" rIns="0" bIns="0" rtlCol="0" anchor="t"/>
          <a:lstStyle/>
          <a:p>
            <a:pPr indent="0" marL="0">
              <a:buNone/>
            </a:pPr>
            <a:r>
              <a:rPr lang="en-US" sz="1600" b="1" dirty="0">
                <a:solidFill>
                  <a:schemeClr val="accent2"/>
                </a:solidFill>
              </a:rPr>
              <a:t>Success checklist</a:t>
            </a:r>
            <a:endParaRPr lang="en-US" sz="1600" dirty="0"/>
          </a:p>
        </p:txBody>
      </p:sp>
      <p:sp>
        <p:nvSpPr>
          <p:cNvPr id="20" name="icon circle"/>
          <p:cNvSpPr/>
          <p:nvPr/>
        </p:nvSpPr>
        <p:spPr>
          <a:xfrm>
            <a:off x="5166360" y="1783080"/>
            <a:ext cx="329184" cy="329184"/>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4"/>
          <a:stretch>
            <a:fillRect/>
          </a:stretch>
        </p:blipFill>
        <p:spPr>
          <a:xfrm>
            <a:off x="5255240" y="1871960"/>
            <a:ext cx="151425" cy="151425"/>
          </a:xfrm>
          <a:prstGeom prst="rect">
            <a:avLst/>
          </a:prstGeom>
        </p:spPr>
      </p:pic>
      <p:sp>
        <p:nvSpPr>
          <p:cNvPr id="22" name="Text 16"/>
          <p:cNvSpPr txBox="1"/>
          <p:nvPr/>
        </p:nvSpPr>
        <p:spPr>
          <a:xfrm>
            <a:off x="5623560" y="1783080"/>
            <a:ext cx="2926080" cy="329184"/>
          </a:xfrm>
          <a:prstGeom prst="rect">
            <a:avLst/>
          </a:prstGeom>
          <a:noFill/>
          <a:ln/>
        </p:spPr>
        <p:txBody>
          <a:bodyPr wrap="square" lIns="0" tIns="0" rIns="0" bIns="0" rtlCol="0" anchor="ctr"/>
          <a:lstStyle/>
          <a:p>
            <a:pPr indent="0" marL="0">
              <a:buNone/>
            </a:pPr>
            <a:r>
              <a:rPr lang="en-US" sz="1400" dirty="0">
                <a:solidFill>
                  <a:schemeClr val="bg1"/>
                </a:solidFill>
              </a:rPr>
              <a:t>Correct future forms</a:t>
            </a:r>
            <a:endParaRPr lang="en-US" sz="1400" dirty="0"/>
          </a:p>
        </p:txBody>
      </p:sp>
      <p:sp>
        <p:nvSpPr>
          <p:cNvPr id="23" name="icon circle"/>
          <p:cNvSpPr/>
          <p:nvPr/>
        </p:nvSpPr>
        <p:spPr>
          <a:xfrm>
            <a:off x="5166360" y="2313432"/>
            <a:ext cx="329184" cy="329184"/>
          </a:xfrm>
          <a:prstGeom prst="ellipse">
            <a:avLst/>
          </a:prstGeom>
          <a:solidFill>
            <a:schemeClr val="accent2"/>
          </a:solidFill>
          <a:ln w="12700">
            <a:solidFill>
              <a:schemeClr val="accent2"/>
            </a:solidFill>
            <a:prstDash val="solid"/>
          </a:ln>
        </p:spPr>
      </p:sp>
      <p:pic>
        <p:nvPicPr>
          <p:cNvPr id="24" name="icon" descr="preencoded.png">    </p:cNvPr>
          <p:cNvPicPr>
            <a:picLocks noChangeAspect="1"/>
          </p:cNvPicPr>
          <p:nvPr/>
        </p:nvPicPr>
        <p:blipFill>
          <a:blip r:embed="rId5"/>
          <a:stretch>
            <a:fillRect/>
          </a:stretch>
        </p:blipFill>
        <p:spPr>
          <a:xfrm>
            <a:off x="5255240" y="2402312"/>
            <a:ext cx="151425" cy="151425"/>
          </a:xfrm>
          <a:prstGeom prst="rect">
            <a:avLst/>
          </a:prstGeom>
        </p:spPr>
      </p:pic>
      <p:sp>
        <p:nvSpPr>
          <p:cNvPr id="25" name="Text 18"/>
          <p:cNvSpPr txBox="1"/>
          <p:nvPr/>
        </p:nvSpPr>
        <p:spPr>
          <a:xfrm>
            <a:off x="5623560" y="2313432"/>
            <a:ext cx="2926080" cy="329184"/>
          </a:xfrm>
          <a:prstGeom prst="rect">
            <a:avLst/>
          </a:prstGeom>
          <a:noFill/>
          <a:ln/>
        </p:spPr>
        <p:txBody>
          <a:bodyPr wrap="square" lIns="0" tIns="0" rIns="0" bIns="0" rtlCol="0" anchor="ctr"/>
          <a:lstStyle/>
          <a:p>
            <a:pPr indent="0" marL="0">
              <a:buNone/>
            </a:pPr>
            <a:r>
              <a:rPr lang="en-US" sz="1400" dirty="0">
                <a:solidFill>
                  <a:schemeClr val="bg1"/>
                </a:solidFill>
              </a:rPr>
              <a:t>Polite language (please, could…)</a:t>
            </a:r>
            <a:endParaRPr lang="en-US" sz="1400" dirty="0"/>
          </a:p>
        </p:txBody>
      </p:sp>
      <p:sp>
        <p:nvSpPr>
          <p:cNvPr id="26" name="icon circle"/>
          <p:cNvSpPr/>
          <p:nvPr/>
        </p:nvSpPr>
        <p:spPr>
          <a:xfrm>
            <a:off x="5166360" y="2843784"/>
            <a:ext cx="329184" cy="329184"/>
          </a:xfrm>
          <a:prstGeom prst="ellipse">
            <a:avLst/>
          </a:prstGeom>
          <a:solidFill>
            <a:schemeClr val="accent2"/>
          </a:solidFill>
          <a:ln w="12700">
            <a:solidFill>
              <a:schemeClr val="accent2"/>
            </a:solidFill>
            <a:prstDash val="solid"/>
          </a:ln>
        </p:spPr>
      </p:sp>
      <p:pic>
        <p:nvPicPr>
          <p:cNvPr id="27" name="icon" descr="preencoded.png">    </p:cNvPr>
          <p:cNvPicPr>
            <a:picLocks noChangeAspect="1"/>
          </p:cNvPicPr>
          <p:nvPr/>
        </p:nvPicPr>
        <p:blipFill>
          <a:blip r:embed="rId6"/>
          <a:stretch>
            <a:fillRect/>
          </a:stretch>
        </p:blipFill>
        <p:spPr>
          <a:xfrm>
            <a:off x="5255240" y="2932664"/>
            <a:ext cx="151425" cy="151425"/>
          </a:xfrm>
          <a:prstGeom prst="rect">
            <a:avLst/>
          </a:prstGeom>
        </p:spPr>
      </p:pic>
      <p:sp>
        <p:nvSpPr>
          <p:cNvPr id="28" name="Text 20"/>
          <p:cNvSpPr txBox="1"/>
          <p:nvPr/>
        </p:nvSpPr>
        <p:spPr>
          <a:xfrm>
            <a:off x="5623560" y="2843784"/>
            <a:ext cx="2926080" cy="329184"/>
          </a:xfrm>
          <a:prstGeom prst="rect">
            <a:avLst/>
          </a:prstGeom>
          <a:noFill/>
          <a:ln/>
        </p:spPr>
        <p:txBody>
          <a:bodyPr wrap="square" lIns="0" tIns="0" rIns="0" bIns="0" rtlCol="0" anchor="ctr"/>
          <a:lstStyle/>
          <a:p>
            <a:pPr indent="0" marL="0">
              <a:buNone/>
            </a:pPr>
            <a:r>
              <a:rPr lang="en-US" sz="1400" dirty="0">
                <a:solidFill>
                  <a:schemeClr val="bg1"/>
                </a:solidFill>
              </a:rPr>
              <a:t>Natural reactions (Really? Great!)</a:t>
            </a:r>
            <a:endParaRPr lang="en-US" sz="1400" dirty="0"/>
          </a:p>
        </p:txBody>
      </p:sp>
      <p:sp>
        <p:nvSpPr>
          <p:cNvPr id="29" name="icon circle"/>
          <p:cNvSpPr/>
          <p:nvPr/>
        </p:nvSpPr>
        <p:spPr>
          <a:xfrm>
            <a:off x="5166360" y="3374136"/>
            <a:ext cx="329184" cy="329184"/>
          </a:xfrm>
          <a:prstGeom prst="ellipse">
            <a:avLst/>
          </a:prstGeom>
          <a:solidFill>
            <a:schemeClr val="accent2"/>
          </a:solidFill>
          <a:ln w="12700">
            <a:solidFill>
              <a:schemeClr val="accent2"/>
            </a:solidFill>
            <a:prstDash val="solid"/>
          </a:ln>
        </p:spPr>
      </p:sp>
      <p:pic>
        <p:nvPicPr>
          <p:cNvPr id="30" name="icon" descr="preencoded.png">    </p:cNvPr>
          <p:cNvPicPr>
            <a:picLocks noChangeAspect="1"/>
          </p:cNvPicPr>
          <p:nvPr/>
        </p:nvPicPr>
        <p:blipFill>
          <a:blip r:embed="rId7"/>
          <a:stretch>
            <a:fillRect/>
          </a:stretch>
        </p:blipFill>
        <p:spPr>
          <a:xfrm>
            <a:off x="5255240" y="3463016"/>
            <a:ext cx="151425" cy="151425"/>
          </a:xfrm>
          <a:prstGeom prst="rect">
            <a:avLst/>
          </a:prstGeom>
        </p:spPr>
      </p:pic>
      <p:sp>
        <p:nvSpPr>
          <p:cNvPr id="31" name="Text 22"/>
          <p:cNvSpPr txBox="1"/>
          <p:nvPr/>
        </p:nvSpPr>
        <p:spPr>
          <a:xfrm>
            <a:off x="5623560" y="3374136"/>
            <a:ext cx="2926080" cy="329184"/>
          </a:xfrm>
          <a:prstGeom prst="rect">
            <a:avLst/>
          </a:prstGeom>
          <a:noFill/>
          <a:ln/>
        </p:spPr>
        <p:txBody>
          <a:bodyPr wrap="square" lIns="0" tIns="0" rIns="0" bIns="0" rtlCol="0" anchor="ctr"/>
          <a:lstStyle/>
          <a:p>
            <a:pPr indent="0" marL="0">
              <a:buNone/>
            </a:pPr>
            <a:r>
              <a:rPr lang="en-US" sz="1400" dirty="0">
                <a:solidFill>
                  <a:schemeClr val="bg1"/>
                </a:solidFill>
              </a:rPr>
              <a:t>At least 8 lines</a:t>
            </a:r>
            <a:endParaRPr lang="en-US" sz="1400" dirty="0"/>
          </a:p>
        </p:txBody>
      </p:sp>
      <p:sp>
        <p:nvSpPr>
          <p:cNvPr id="32" name="icon circle"/>
          <p:cNvSpPr/>
          <p:nvPr/>
        </p:nvSpPr>
        <p:spPr>
          <a:xfrm>
            <a:off x="5166360" y="3904488"/>
            <a:ext cx="329184" cy="329184"/>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8"/>
          <a:stretch>
            <a:fillRect/>
          </a:stretch>
        </p:blipFill>
        <p:spPr>
          <a:xfrm>
            <a:off x="5255240" y="3993368"/>
            <a:ext cx="151425" cy="151425"/>
          </a:xfrm>
          <a:prstGeom prst="rect">
            <a:avLst/>
          </a:prstGeom>
        </p:spPr>
      </p:pic>
      <p:sp>
        <p:nvSpPr>
          <p:cNvPr id="34" name="Text 24"/>
          <p:cNvSpPr txBox="1"/>
          <p:nvPr/>
        </p:nvSpPr>
        <p:spPr>
          <a:xfrm>
            <a:off x="5623560" y="3904488"/>
            <a:ext cx="2926080" cy="329184"/>
          </a:xfrm>
          <a:prstGeom prst="rect">
            <a:avLst/>
          </a:prstGeom>
          <a:noFill/>
          <a:ln/>
        </p:spPr>
        <p:txBody>
          <a:bodyPr wrap="square" lIns="0" tIns="0" rIns="0" bIns="0" rtlCol="0" anchor="ctr"/>
          <a:lstStyle/>
          <a:p>
            <a:pPr indent="0" marL="0">
              <a:buNone/>
            </a:pPr>
            <a:r>
              <a:rPr lang="en-US" sz="1400" dirty="0">
                <a:solidFill>
                  <a:schemeClr val="bg1"/>
                </a:solidFill>
              </a:rPr>
              <a:t>Clear voice and eye contact</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188720"/>
          </a:xfrm>
          <a:prstGeom prst="rect">
            <a:avLst/>
          </a:prstGeom>
          <a:noFill/>
          <a:ln/>
        </p:spPr>
        <p:txBody>
          <a:bodyPr wrap="square" lIns="0" tIns="0" rIns="0" bIns="0" rtlCol="0" anchor="b"/>
          <a:lstStyle/>
          <a:p>
            <a:pPr algn="l" indent="0" marL="0">
              <a:buNone/>
            </a:pPr>
            <a:r>
              <a:rPr lang="en-US" sz="4400" b="1" dirty="0">
                <a:solidFill>
                  <a:schemeClr val="bg1"/>
                </a:solidFill>
              </a:rPr>
              <a:t>Great Work!</a:t>
            </a:r>
            <a:endParaRPr lang="en-US" sz="4400" dirty="0"/>
          </a:p>
        </p:txBody>
      </p:sp>
      <p:sp>
        <p:nvSpPr>
          <p:cNvPr id="3" name="Text 0"/>
          <p:cNvSpPr/>
          <p:nvPr>
            <p:ph idx="101" type="body" hasCustomPrompt="1"/>
          </p:nvPr>
        </p:nvSpPr>
        <p:spPr>
          <a:xfrm>
            <a:off x="548640" y="2743200"/>
            <a:ext cx="5120640" cy="1280160"/>
          </a:xfrm>
          <a:prstGeom prst="rect">
            <a:avLst/>
          </a:prstGeom>
          <a:noFill/>
          <a:ln/>
        </p:spPr>
        <p:txBody>
          <a:bodyPr wrap="square" lIns="0" tIns="0" rIns="0" bIns="0" rtlCol="0" anchor="t"/>
          <a:lstStyle/>
          <a:p>
            <a:pPr indent="0" marL="0">
              <a:buNone/>
            </a:pPr>
            <a:r>
              <a:rPr lang="en-US" sz="1800" dirty="0">
                <a:solidFill>
                  <a:schemeClr val="bg2"/>
                </a:solidFill>
              </a:rPr>
              <a:t>Homework: Write a 10-line dialogue between you and a friend planning a trip. Practise it aloud at home.</a:t>
            </a:r>
            <a:endParaRPr lang="en-US" sz="1800" dirty="0"/>
          </a:p>
        </p:txBody>
      </p:sp>
      <p:sp>
        <p:nvSpPr>
          <p:cNvPr id="4" name="hero circle"/>
          <p:cNvSpPr/>
          <p:nvPr/>
        </p:nvSpPr>
        <p:spPr>
          <a:xfrm>
            <a:off x="6126480" y="1188720"/>
            <a:ext cx="2468880" cy="2468880"/>
          </a:xfrm>
          <a:prstGeom prst="ellipse">
            <a:avLst/>
          </a:prstGeom>
          <a:solidFill>
            <a:schemeClr val="accent2"/>
          </a:solidFill>
          <a:ln w="12700">
            <a:solidFill>
              <a:schemeClr val="accent2"/>
            </a:solidFill>
            <a:prstDash val="solid"/>
          </a:ln>
        </p:spPr>
      </p:sp>
      <p:pic>
        <p:nvPicPr>
          <p:cNvPr id="5" name="hero icon" descr="preencoded.png">    </p:cNvPr>
          <p:cNvPicPr>
            <a:picLocks noChangeAspect="1"/>
          </p:cNvPicPr>
          <p:nvPr/>
        </p:nvPicPr>
        <p:blipFill>
          <a:blip r:embed="rId1"/>
          <a:stretch>
            <a:fillRect/>
          </a:stretch>
        </p:blipFill>
        <p:spPr>
          <a:xfrm>
            <a:off x="6766560" y="1828800"/>
            <a:ext cx="1188720" cy="1188720"/>
          </a:xfrm>
          <a:prstGeom prst="rect">
            <a:avLst/>
          </a:prstGeom>
        </p:spPr>
      </p:pic>
    </p:spTree>
  </p:cSld>
  <p:clrMapOvr>
    <a:masterClrMapping/>
  </p:clrMapOvr>
</p:sld>
</file>

<file path=ppt/theme/theme1.xml><?xml version="1.0" encoding="utf-8"?>
<a:theme xmlns:a="http://schemas.openxmlformats.org/drawingml/2006/main" name="Speaking Class">
  <a:themeElements>
    <a:clrScheme name="Speaking Class">
      <a:dk1>
        <a:srgbClr val="1F2433"/>
      </a:dk1>
      <a:lt1>
        <a:srgbClr val="FFFFFF"/>
      </a:lt1>
      <a:dk2>
        <a:srgbClr val="2F3C7E"/>
      </a:dk2>
      <a:lt2>
        <a:srgbClr val="F1F3FA"/>
      </a:lt2>
      <a:accent1>
        <a:srgbClr val="F96167"/>
      </a:accent1>
      <a:accent2>
        <a:srgbClr val="F4A62A"/>
      </a:accent2>
      <a:accent3>
        <a:srgbClr val="2A9D8F"/>
      </a:accent3>
      <a:accent4>
        <a:srgbClr val="6C5CE7"/>
      </a:accent4>
      <a:accent5>
        <a:srgbClr val="E76F51"/>
      </a:accent5>
      <a:accent6>
        <a:srgbClr val="8D99AE"/>
      </a:accent6>
      <a:hlink>
        <a:srgbClr val="2F3C7E"/>
      </a:hlink>
      <a:folHlink>
        <a:srgbClr val="6C5CE7"/>
      </a:folHlink>
    </a:clrScheme>
    <a:fontScheme name="Speaking Cl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 Telling a Story</dc:title>
  <dc:subject>PptxGenJS Presentation</dc:subject>
  <dc:creator>PptxGenJS</dc:creator>
  <cp:lastModifiedBy>PptxGenJS</cp:lastModifiedBy>
  <cp:revision>1</cp:revision>
  <dcterms:created xsi:type="dcterms:W3CDTF">2026-10-09T11:30:33Z</dcterms:created>
  <dcterms:modified xsi:type="dcterms:W3CDTF">2026-10-09T11:30:33Z</dcterms:modified>
</cp:coreProperties>
</file>