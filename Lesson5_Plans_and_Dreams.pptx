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6315f9d1-fcd1-628f-4d3e-39a1ff940b10}">
          <p14:sldIdLst>
            <p14:sldId id="256"/>
            <p14:sldId id="257"/>
            <p14:sldId id="258"/>
          </p14:sldIdLst>
        </p14:section>
        <p14:section name="Part 1: Language" id="{93197e83-55fe-ad9f-2e58-610597fee829}">
          <p14:sldIdLst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Part 2: Model Story" id="{f6cb0330-0c0f-8eb8-5d41-4c5ea1674620}">
          <p14:sldIdLst>
            <p14:sldId id="265"/>
            <p14:sldId id="266"/>
            <p14:sldId id="267"/>
          </p14:sldIdLst>
        </p14:section>
        <p14:section name="Part 3: Practice" id="{948f41bf-32b5-0f7e-443b-a01b567e33c5}">
          <p14:sldIdLst>
            <p14:sldId id="268"/>
            <p14:sldId id="269"/>
            <p14:sldId id="270"/>
            <p14:sldId id="271"/>
            <p14:sldId id="272"/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الدرس الرابع: الانتقال من الحديث عن الحاضر إلى حكي أحداث الماضي بكلام متصل. مدة الدرس حصتان تقريباً.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في نهاية الدرس يستطيع التلميذ حكي قصة قصيرة عن تجربة شخصية لمدة دقيقة، بأحداث مرتبة وأفعال في الماضي.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نشاط تمهيدي سريع: لا تصحح الأخطاء الآن، فقط لاحظ الأخطاء الشائعة في الماضي لتعود إليها في الشرح.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الجزء الأول: الأدوات اللغوية التي يحتاجها التلميذ ليحكي قصة.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تمرين: اقرأ الأفعال بصوت مرتفع واطلب من التلاميذ تصنيفها في الأعمدة الثلاثة حسب نطق 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الأفعال الشاذة تُحفظ. لعبة سريعة: الأستاذ يقول الفعل في المضارع والتلميذ يجيب بالماضي بسرعة.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الخطأ الأكثر شيوعاً هو وضع الفعل في الماضي بعد did أو didn't. ركّز عليه بأمثلة كثيرة.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كلمات الترتيب تجعل القصة واضحة. اطلب من التلاميذ ترتيب جمل مبعثرة باستعمال هذه الكلمات.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المستمع الجيد يتفاعل. هذه العبارات تربط هذا الدرس بدرس إبداء الرأي.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الجزء الثاني: قصة نموذجية يحكيها الأستاذ قبل أن يكتب التلاميذ قصصهم.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اقرأ القصة مرتين. في المرة الثانية يسطّر التلاميذ الأفعال وكلمات الترتيب. الحل: الأفعال المنتظمة: visited. الأفعال الشاذة: woke, took, swam, ate, got, were, found, was. كلمات الترتيب: First, Then, After that, Suddenly, Finally.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خريطة القصة أداة تخطيط: يملأ التلميذ الأسئلة الخمسة بكلمات مفتاحية ثم يحكي دون قراءة نص كامل.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الجزء الثالث: أنشطة تطبيقية متدرجة من الموجّه إلى الحر.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كل تلميذ يحكي صورة واحدة بالتتابع. النهاية المفاجئة (المدرسة مغلقة لأنه يوم عطلة) تثير الضحك وتشجع على المشاركة.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لعبة حركية: يتجول التلاميذ ويسألون بـ Did you. عند الإجابة بنعم يطرحون سؤالاً إضافياً بـ Wh- لتطوير المحادثة.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يشجع النشاط على طرح الأسئلة: When did you meet him? How did you break your arm?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المهمة الختامية تقيّم الدرس كله. يستمع الزملاء ويتفاعلون بعبارات Really? / What happened next?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الواجب ينقل المهارة من الشفهي إلى الكتابي. في الحصة القادمة: Lesson 5 - Making Plans and Invitations.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512064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43200"/>
            <a:ext cx="512064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234440"/>
            <a:ext cx="54864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b="1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691640"/>
            <a:ext cx="566928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880360"/>
            <a:ext cx="54864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Relationship Id="rId4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.xml"/><Relationship Id="rId6" Type="http://schemas.openxmlformats.org/officeDocument/2006/relationships/image" Target="../media/image2.png"/><Relationship Id="rId7" Type="http://schemas.openxmlformats.org/officeDocument/2006/relationships/image" Target="../media/image3.png"/><Relationship Id="rId8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Relationship Id="rId4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12.xml"/><Relationship Id="rId8" Type="http://schemas.openxmlformats.org/officeDocument/2006/relationships/image" Target="../media/image6.png"/><Relationship Id="rId9" Type="http://schemas.openxmlformats.org/officeDocument/2006/relationships/image" Target="../media/image7.png"/><Relationship Id="rId10" Type="http://schemas.openxmlformats.org/officeDocument/2006/relationships/image" Target="../media/image8.png"/><Relationship Id="rId11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4.xml"/><Relationship Id="rId7" Type="http://schemas.openxmlformats.org/officeDocument/2006/relationships/image" Target="../media/image10.png"/><Relationship Id="rId8" Type="http://schemas.openxmlformats.org/officeDocument/2006/relationships/image" Target="../media/image11.png"/><Relationship Id="rId9" Type="http://schemas.openxmlformats.org/officeDocument/2006/relationships/image" Target="../media/image12.png"/><Relationship Id="rId10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image" Target="../media/image-17-7.png"/><Relationship Id="rId8" Type="http://schemas.openxmlformats.org/officeDocument/2006/relationships/image" Target="../media/image-17-8.png"/><Relationship Id="rId9" Type="http://schemas.openxmlformats.org/officeDocument/2006/relationships/slideLayout" Target="../slideLayouts/slideLayout4.xml"/><Relationship Id="rId10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5120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Plans and Dreams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43200"/>
            <a:ext cx="5120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Lesson 5 · Talking About the Future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Speaking Skills · Remedial English Lessons</a:t>
            </a:r>
            <a:endParaRPr lang="en-US" sz="1800" dirty="0"/>
          </a:p>
        </p:txBody>
      </p:sp>
      <p:sp>
        <p:nvSpPr>
          <p:cNvPr id="4" name="hero circle"/>
          <p:cNvSpPr/>
          <p:nvPr/>
        </p:nvSpPr>
        <p:spPr>
          <a:xfrm>
            <a:off x="6126480" y="1188720"/>
            <a:ext cx="2468880" cy="24688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hero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6560" y="1828800"/>
            <a:ext cx="1188720" cy="11887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Lesson Goals</a:t>
            </a:r>
            <a:endParaRPr lang="en-US" sz="30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2560320" cy="3291840"/>
          </a:xfrm>
          <a:prstGeom prst="roundRect">
            <a:avLst>
              <a:gd name="adj" fmla="val 42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icon circle"/>
          <p:cNvSpPr/>
          <p:nvPr/>
        </p:nvSpPr>
        <p:spPr>
          <a:xfrm>
            <a:off x="1325880" y="1417320"/>
            <a:ext cx="822960" cy="8229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48079" y="1639519"/>
            <a:ext cx="378562" cy="37856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23774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Goal 1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6974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Use Future Forms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320040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going to, will and the present continuous</a:t>
            </a:r>
            <a:endParaRPr lang="en-US" sz="1400" dirty="0"/>
          </a:p>
        </p:txBody>
      </p:sp>
      <p:sp>
        <p:nvSpPr>
          <p:cNvPr id="9" name="card"/>
          <p:cNvSpPr/>
          <p:nvPr/>
        </p:nvSpPr>
        <p:spPr>
          <a:xfrm>
            <a:off x="3291840" y="1188720"/>
            <a:ext cx="2560320" cy="3291840"/>
          </a:xfrm>
          <a:prstGeom prst="roundRect">
            <a:avLst>
              <a:gd name="adj" fmla="val 42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icon circle"/>
          <p:cNvSpPr/>
          <p:nvPr/>
        </p:nvSpPr>
        <p:spPr>
          <a:xfrm>
            <a:off x="4160520" y="1417320"/>
            <a:ext cx="822960" cy="8229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1" name="icon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82719" y="1639519"/>
            <a:ext cx="378562" cy="37856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474720" y="23774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Goal 2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3474720" y="26974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Make Arrangements</a:t>
            </a:r>
            <a:endParaRPr lang="en-US" sz="1800" dirty="0"/>
          </a:p>
        </p:txBody>
      </p:sp>
      <p:sp>
        <p:nvSpPr>
          <p:cNvPr id="14" name="Text 10"/>
          <p:cNvSpPr txBox="1"/>
          <p:nvPr/>
        </p:nvSpPr>
        <p:spPr>
          <a:xfrm>
            <a:off x="3520440" y="320040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Invite, accept, refuse and agree on a time</a:t>
            </a:r>
            <a:endParaRPr lang="en-US" sz="1400" dirty="0"/>
          </a:p>
        </p:txBody>
      </p:sp>
      <p:sp>
        <p:nvSpPr>
          <p:cNvPr id="15" name="card"/>
          <p:cNvSpPr/>
          <p:nvPr/>
        </p:nvSpPr>
        <p:spPr>
          <a:xfrm>
            <a:off x="6126480" y="1188720"/>
            <a:ext cx="2560320" cy="3291840"/>
          </a:xfrm>
          <a:prstGeom prst="roundRect">
            <a:avLst>
              <a:gd name="adj" fmla="val 42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icon circle"/>
          <p:cNvSpPr/>
          <p:nvPr/>
        </p:nvSpPr>
        <p:spPr>
          <a:xfrm>
            <a:off x="6995160" y="1417320"/>
            <a:ext cx="822960" cy="82296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7" name="icon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217359" y="1639519"/>
            <a:ext cx="378562" cy="378562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09360" y="23774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Goal 3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309360" y="26974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Predict and Dream</a:t>
            </a:r>
            <a:endParaRPr lang="en-US" sz="1800" dirty="0"/>
          </a:p>
        </p:txBody>
      </p:sp>
      <p:sp>
        <p:nvSpPr>
          <p:cNvPr id="20" name="Text 15"/>
          <p:cNvSpPr txBox="1"/>
          <p:nvPr/>
        </p:nvSpPr>
        <p:spPr>
          <a:xfrm>
            <a:off x="6355080" y="320040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Talk about your future: I think I will…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Warm-up: Let's Talk</a:t>
            </a:r>
            <a:endParaRPr lang="en-US" sz="3000" dirty="0"/>
          </a:p>
        </p:txBody>
      </p:sp>
      <p:sp>
        <p:nvSpPr>
          <p:cNvPr id="3" name="card"/>
          <p:cNvSpPr/>
          <p:nvPr/>
        </p:nvSpPr>
        <p:spPr>
          <a:xfrm>
            <a:off x="457200" y="1097280"/>
            <a:ext cx="2606040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icon circle"/>
          <p:cNvSpPr/>
          <p:nvPr/>
        </p:nvSpPr>
        <p:spPr>
          <a:xfrm>
            <a:off x="640080" y="128016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5868" y="1415948"/>
            <a:ext cx="231343" cy="23134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187452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What are you doing this weekend?</a:t>
            </a:r>
            <a:endParaRPr lang="en-US" sz="1600" dirty="0"/>
          </a:p>
        </p:txBody>
      </p:sp>
      <p:sp>
        <p:nvSpPr>
          <p:cNvPr id="7" name="card"/>
          <p:cNvSpPr/>
          <p:nvPr/>
        </p:nvSpPr>
        <p:spPr>
          <a:xfrm>
            <a:off x="3200400" y="1097280"/>
            <a:ext cx="2606040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icon circle"/>
          <p:cNvSpPr/>
          <p:nvPr/>
        </p:nvSpPr>
        <p:spPr>
          <a:xfrm>
            <a:off x="3383280" y="128016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9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9068" y="1415948"/>
            <a:ext cx="231343" cy="231343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3383280" y="187452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Where are you going to go next summer?</a:t>
            </a:r>
            <a:endParaRPr lang="en-US" sz="1600" dirty="0"/>
          </a:p>
        </p:txBody>
      </p:sp>
      <p:sp>
        <p:nvSpPr>
          <p:cNvPr id="11" name="card"/>
          <p:cNvSpPr/>
          <p:nvPr/>
        </p:nvSpPr>
        <p:spPr>
          <a:xfrm>
            <a:off x="457200" y="2880360"/>
            <a:ext cx="2606040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icon circle"/>
          <p:cNvSpPr/>
          <p:nvPr/>
        </p:nvSpPr>
        <p:spPr>
          <a:xfrm>
            <a:off x="640080" y="3063240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3" name="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5868" y="3199028"/>
            <a:ext cx="231343" cy="231343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640080" y="365760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What job do you want to do in the future?</a:t>
            </a:r>
            <a:endParaRPr lang="en-US" sz="1600" dirty="0"/>
          </a:p>
        </p:txBody>
      </p:sp>
      <p:sp>
        <p:nvSpPr>
          <p:cNvPr id="15" name="card"/>
          <p:cNvSpPr/>
          <p:nvPr/>
        </p:nvSpPr>
        <p:spPr>
          <a:xfrm>
            <a:off x="3200400" y="2880360"/>
            <a:ext cx="2606040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icon circle"/>
          <p:cNvSpPr/>
          <p:nvPr/>
        </p:nvSpPr>
        <p:spPr>
          <a:xfrm>
            <a:off x="3383280" y="3063240"/>
            <a:ext cx="502920" cy="5029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7" name="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19068" y="3199028"/>
            <a:ext cx="231343" cy="231343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3383280" y="365760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Will people live on Mars one day?</a:t>
            </a:r>
            <a:endParaRPr lang="en-US" sz="1600" dirty="0"/>
          </a:p>
        </p:txBody>
      </p:sp>
      <p:sp>
        <p:nvSpPr>
          <p:cNvPr id="19" name="card"/>
          <p:cNvSpPr/>
          <p:nvPr/>
        </p:nvSpPr>
        <p:spPr>
          <a:xfrm>
            <a:off x="6035040" y="1097280"/>
            <a:ext cx="2651760" cy="3520440"/>
          </a:xfrm>
          <a:prstGeom prst="roundRect">
            <a:avLst>
              <a:gd name="adj" fmla="val 4138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6263640" y="12801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Warm-up</a:t>
            </a:r>
            <a:endParaRPr lang="en-US" sz="1600" dirty="0"/>
          </a:p>
        </p:txBody>
      </p:sp>
      <p:sp>
        <p:nvSpPr>
          <p:cNvPr id="21" name="Text 15"/>
          <p:cNvSpPr txBox="1"/>
          <p:nvPr/>
        </p:nvSpPr>
        <p:spPr>
          <a:xfrm>
            <a:off x="6263640" y="1737360"/>
            <a:ext cx="22402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Work in pairs.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Ask two questions.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Answer with full sentences.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Time: 3 minutes.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2344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PART 1</a:t>
            </a:r>
            <a:endParaRPr lang="en-US" sz="18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69164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Future Forms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88036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going to, will, present continuous, invitations and predictions</a:t>
            </a:r>
            <a:endParaRPr lang="en-US" sz="1800" dirty="0"/>
          </a:p>
        </p:txBody>
      </p:sp>
      <p:sp>
        <p:nvSpPr>
          <p:cNvPr id="5" name="divider circle"/>
          <p:cNvSpPr/>
          <p:nvPr/>
        </p:nvSpPr>
        <p:spPr>
          <a:xfrm>
            <a:off x="6400800" y="1417320"/>
            <a:ext cx="2194560" cy="219456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6" name="divider inner"/>
          <p:cNvSpPr/>
          <p:nvPr/>
        </p:nvSpPr>
        <p:spPr>
          <a:xfrm>
            <a:off x="6629400" y="1645920"/>
            <a:ext cx="1737360" cy="173736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7" name="divider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0" y="2057400"/>
            <a:ext cx="914400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Three Ways to Talk About the Future</a:t>
            </a:r>
            <a:endParaRPr lang="en-US" sz="3000" dirty="0"/>
          </a:p>
        </p:txBody>
      </p:sp>
      <p:sp>
        <p:nvSpPr>
          <p:cNvPr id="3" name="card"/>
          <p:cNvSpPr/>
          <p:nvPr/>
        </p:nvSpPr>
        <p:spPr>
          <a:xfrm>
            <a:off x="457200" y="1097280"/>
            <a:ext cx="2615184" cy="2286000"/>
          </a:xfrm>
          <a:prstGeom prst="roundRect">
            <a:avLst>
              <a:gd name="adj" fmla="val 48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ound badge"/>
          <p:cNvSpPr/>
          <p:nvPr/>
        </p:nvSpPr>
        <p:spPr>
          <a:xfrm>
            <a:off x="640080" y="128016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801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1280160"/>
            <a:ext cx="1417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going to: plans and intentions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194560"/>
            <a:ext cx="22494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I'm going to study medicine. · Look at the sky! It's going to rain.</a:t>
            </a:r>
            <a:endParaRPr lang="en-US" sz="1600" dirty="0"/>
          </a:p>
        </p:txBody>
      </p:sp>
      <p:sp>
        <p:nvSpPr>
          <p:cNvPr id="8" name="card"/>
          <p:cNvSpPr/>
          <p:nvPr/>
        </p:nvSpPr>
        <p:spPr>
          <a:xfrm>
            <a:off x="3264408" y="1097280"/>
            <a:ext cx="2615184" cy="2286000"/>
          </a:xfrm>
          <a:prstGeom prst="roundRect">
            <a:avLst>
              <a:gd name="adj" fmla="val 48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ound badge"/>
          <p:cNvSpPr/>
          <p:nvPr/>
        </p:nvSpPr>
        <p:spPr>
          <a:xfrm>
            <a:off x="3447288" y="1280160"/>
            <a:ext cx="731520" cy="7315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447288" y="12801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4315968" y="1280160"/>
            <a:ext cx="1417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will: decisions, promises, predictions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447288" y="2194560"/>
            <a:ext cx="22494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I'm thirsty. I'll get some water. · I'll help you. · You'll pass!</a:t>
            </a:r>
            <a:endParaRPr lang="en-US" sz="1600" dirty="0"/>
          </a:p>
        </p:txBody>
      </p:sp>
      <p:sp>
        <p:nvSpPr>
          <p:cNvPr id="13" name="card"/>
          <p:cNvSpPr/>
          <p:nvPr/>
        </p:nvSpPr>
        <p:spPr>
          <a:xfrm>
            <a:off x="6071616" y="1097280"/>
            <a:ext cx="2615184" cy="2286000"/>
          </a:xfrm>
          <a:prstGeom prst="roundRect">
            <a:avLst>
              <a:gd name="adj" fmla="val 48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sound badge"/>
          <p:cNvSpPr/>
          <p:nvPr/>
        </p:nvSpPr>
        <p:spPr>
          <a:xfrm>
            <a:off x="6254496" y="1280160"/>
            <a:ext cx="731520" cy="7315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254496" y="12801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7123176" y="1280160"/>
            <a:ext cx="1417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present continuous: fixed arrangements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254496" y="2194560"/>
            <a:ext cx="22494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I'm meeting Sara at 5. · We're flying to Oran on Monday.</a:t>
            </a:r>
            <a:endParaRPr lang="en-US" sz="1600" dirty="0"/>
          </a:p>
        </p:txBody>
      </p:sp>
      <p:sp>
        <p:nvSpPr>
          <p:cNvPr id="18" name="card"/>
          <p:cNvSpPr/>
          <p:nvPr/>
        </p:nvSpPr>
        <p:spPr>
          <a:xfrm>
            <a:off x="457200" y="3566160"/>
            <a:ext cx="8229600" cy="1051560"/>
          </a:xfrm>
          <a:prstGeom prst="roundRect">
            <a:avLst>
              <a:gd name="adj" fmla="val 10435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85800" y="3566160"/>
            <a:ext cx="1737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Remember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2468880" y="3566160"/>
            <a:ext cx="6035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bg1"/>
                </a:solidFill>
              </a:rPr>
              <a:t>be going to + verb · will + verb · be + verb-ing + time (tomorrow, on Friday, at 6…)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Short Forms: Say It Naturally</a:t>
            </a:r>
            <a:endParaRPr lang="en-US" sz="3000" dirty="0"/>
          </a:p>
        </p:txBody>
      </p:sp>
      <p:sp>
        <p:nvSpPr>
          <p:cNvPr id="3" name="card"/>
          <p:cNvSpPr/>
          <p:nvPr/>
        </p:nvSpPr>
        <p:spPr>
          <a:xfrm>
            <a:off x="457200" y="1097280"/>
            <a:ext cx="1938528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097280"/>
            <a:ext cx="17556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I will  →  </a:t>
            </a:r>
            <a:pPr algn="ctr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I'll</a:t>
            </a:r>
            <a:endParaRPr lang="en-US" sz="1800" dirty="0"/>
          </a:p>
        </p:txBody>
      </p:sp>
      <p:sp>
        <p:nvSpPr>
          <p:cNvPr id="5" name="card"/>
          <p:cNvSpPr/>
          <p:nvPr/>
        </p:nvSpPr>
        <p:spPr>
          <a:xfrm>
            <a:off x="2542032" y="1097280"/>
            <a:ext cx="1938528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633472" y="1097280"/>
            <a:ext cx="17556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you will  →  </a:t>
            </a:r>
            <a:pPr algn="ct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you'll</a:t>
            </a:r>
            <a:endParaRPr lang="en-US" sz="1800" dirty="0"/>
          </a:p>
        </p:txBody>
      </p:sp>
      <p:sp>
        <p:nvSpPr>
          <p:cNvPr id="7" name="card"/>
          <p:cNvSpPr/>
          <p:nvPr/>
        </p:nvSpPr>
        <p:spPr>
          <a:xfrm>
            <a:off x="4626864" y="1097280"/>
            <a:ext cx="1938528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18304" y="1097280"/>
            <a:ext cx="17556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she will  →  </a:t>
            </a:r>
            <a:pPr algn="ctr"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she'll</a:t>
            </a:r>
            <a:endParaRPr lang="en-US" sz="1800" dirty="0"/>
          </a:p>
        </p:txBody>
      </p:sp>
      <p:sp>
        <p:nvSpPr>
          <p:cNvPr id="9" name="card"/>
          <p:cNvSpPr/>
          <p:nvPr/>
        </p:nvSpPr>
        <p:spPr>
          <a:xfrm>
            <a:off x="6711696" y="1097280"/>
            <a:ext cx="1938528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03136" y="1097280"/>
            <a:ext cx="17556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we will  →  </a:t>
            </a:r>
            <a:pPr algn="ctr"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we'll</a:t>
            </a:r>
            <a:endParaRPr lang="en-US" sz="1800" dirty="0"/>
          </a:p>
        </p:txBody>
      </p:sp>
      <p:sp>
        <p:nvSpPr>
          <p:cNvPr id="11" name="card"/>
          <p:cNvSpPr/>
          <p:nvPr/>
        </p:nvSpPr>
        <p:spPr>
          <a:xfrm>
            <a:off x="457200" y="2286000"/>
            <a:ext cx="1938528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286000"/>
            <a:ext cx="17556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it will  →  </a:t>
            </a:r>
            <a:pPr algn="ctr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it'll</a:t>
            </a:r>
            <a:endParaRPr lang="en-US" sz="1800" dirty="0"/>
          </a:p>
        </p:txBody>
      </p:sp>
      <p:sp>
        <p:nvSpPr>
          <p:cNvPr id="13" name="card"/>
          <p:cNvSpPr/>
          <p:nvPr/>
        </p:nvSpPr>
        <p:spPr>
          <a:xfrm>
            <a:off x="2542032" y="2286000"/>
            <a:ext cx="1938528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633472" y="2286000"/>
            <a:ext cx="17556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will not  →  </a:t>
            </a:r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won't</a:t>
            </a:r>
            <a:endParaRPr lang="en-US" sz="1800" dirty="0"/>
          </a:p>
        </p:txBody>
      </p:sp>
      <p:sp>
        <p:nvSpPr>
          <p:cNvPr id="15" name="card"/>
          <p:cNvSpPr/>
          <p:nvPr/>
        </p:nvSpPr>
        <p:spPr>
          <a:xfrm>
            <a:off x="4626864" y="2286000"/>
            <a:ext cx="1938528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718304" y="2286000"/>
            <a:ext cx="17556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I am  →  </a:t>
            </a:r>
            <a:pPr algn="ctr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I'm</a:t>
            </a:r>
            <a:endParaRPr lang="en-US" sz="1800" dirty="0"/>
          </a:p>
        </p:txBody>
      </p:sp>
      <p:sp>
        <p:nvSpPr>
          <p:cNvPr id="17" name="card"/>
          <p:cNvSpPr/>
          <p:nvPr/>
        </p:nvSpPr>
        <p:spPr>
          <a:xfrm>
            <a:off x="6711696" y="2286000"/>
            <a:ext cx="1938528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03136" y="2286000"/>
            <a:ext cx="17556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he is  →  </a:t>
            </a:r>
            <a:pPr algn="ct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he's</a:t>
            </a:r>
            <a:endParaRPr lang="en-US" sz="1800" dirty="0"/>
          </a:p>
        </p:txBody>
      </p:sp>
      <p:sp>
        <p:nvSpPr>
          <p:cNvPr id="19" name="card"/>
          <p:cNvSpPr/>
          <p:nvPr/>
        </p:nvSpPr>
        <p:spPr>
          <a:xfrm>
            <a:off x="457200" y="3474720"/>
            <a:ext cx="1938528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3474720"/>
            <a:ext cx="17556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we are  →  </a:t>
            </a:r>
            <a:pPr algn="ctr"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we're</a:t>
            </a:r>
            <a:endParaRPr lang="en-US" sz="1800" dirty="0"/>
          </a:p>
        </p:txBody>
      </p:sp>
      <p:sp>
        <p:nvSpPr>
          <p:cNvPr id="21" name="card"/>
          <p:cNvSpPr/>
          <p:nvPr/>
        </p:nvSpPr>
        <p:spPr>
          <a:xfrm>
            <a:off x="2542032" y="3474720"/>
            <a:ext cx="1938528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2633472" y="3474720"/>
            <a:ext cx="17556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you are  →  </a:t>
            </a:r>
            <a:pPr algn="ctr"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you're</a:t>
            </a:r>
            <a:endParaRPr lang="en-US" sz="1800" dirty="0"/>
          </a:p>
        </p:txBody>
      </p:sp>
      <p:sp>
        <p:nvSpPr>
          <p:cNvPr id="23" name="card"/>
          <p:cNvSpPr/>
          <p:nvPr/>
        </p:nvSpPr>
        <p:spPr>
          <a:xfrm>
            <a:off x="4626864" y="3474720"/>
            <a:ext cx="1938528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718304" y="3474720"/>
            <a:ext cx="17556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is not  →  </a:t>
            </a:r>
            <a:pPr algn="ctr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isn't</a:t>
            </a:r>
            <a:endParaRPr lang="en-US" sz="1800" dirty="0"/>
          </a:p>
        </p:txBody>
      </p:sp>
      <p:sp>
        <p:nvSpPr>
          <p:cNvPr id="25" name="card"/>
          <p:cNvSpPr/>
          <p:nvPr/>
        </p:nvSpPr>
        <p:spPr>
          <a:xfrm>
            <a:off x="6711696" y="3474720"/>
            <a:ext cx="1938528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803136" y="3474720"/>
            <a:ext cx="17556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it is  →  </a:t>
            </a:r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it's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Negatives and Questions</a:t>
            </a:r>
            <a:endParaRPr lang="en-US" sz="3000" dirty="0"/>
          </a:p>
        </p:txBody>
      </p:sp>
      <p:sp>
        <p:nvSpPr>
          <p:cNvPr id="3" name="card"/>
          <p:cNvSpPr/>
          <p:nvPr/>
        </p:nvSpPr>
        <p:spPr>
          <a:xfrm>
            <a:off x="457200" y="1097280"/>
            <a:ext cx="2615184" cy="2286000"/>
          </a:xfrm>
          <a:prstGeom prst="roundRect">
            <a:avLst>
              <a:gd name="adj" fmla="val 48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icon circle"/>
          <p:cNvSpPr/>
          <p:nvPr/>
        </p:nvSpPr>
        <p:spPr>
          <a:xfrm>
            <a:off x="640080" y="128016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5868" y="1415948"/>
            <a:ext cx="231343" cy="23134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80160" y="1280160"/>
            <a:ext cx="16550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Negative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920240"/>
            <a:ext cx="220370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I'm not going to travel.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It won't rain tomorrow.</a:t>
            </a:r>
            <a:endParaRPr lang="en-US" sz="1400" dirty="0"/>
          </a:p>
        </p:txBody>
      </p:sp>
      <p:sp>
        <p:nvSpPr>
          <p:cNvPr id="8" name="card"/>
          <p:cNvSpPr/>
          <p:nvPr/>
        </p:nvSpPr>
        <p:spPr>
          <a:xfrm>
            <a:off x="3264408" y="1097280"/>
            <a:ext cx="2615184" cy="2286000"/>
          </a:xfrm>
          <a:prstGeom prst="roundRect">
            <a:avLst>
              <a:gd name="adj" fmla="val 48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icon circle"/>
          <p:cNvSpPr/>
          <p:nvPr/>
        </p:nvSpPr>
        <p:spPr>
          <a:xfrm>
            <a:off x="3447288" y="1280160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0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3076" y="1415948"/>
            <a:ext cx="231343" cy="231343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087368" y="1280160"/>
            <a:ext cx="16550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Yes / No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3493008" y="1920240"/>
            <a:ext cx="220370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Are you going to study tonight?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Will you come? Yes, I will. / No, I won't.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6071616" y="1097280"/>
            <a:ext cx="2615184" cy="2286000"/>
          </a:xfrm>
          <a:prstGeom prst="roundRect">
            <a:avLst>
              <a:gd name="adj" fmla="val 48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icon circle"/>
          <p:cNvSpPr/>
          <p:nvPr/>
        </p:nvSpPr>
        <p:spPr>
          <a:xfrm>
            <a:off x="6254496" y="1280160"/>
            <a:ext cx="502920" cy="5029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5" name="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0284" y="1415948"/>
            <a:ext cx="231343" cy="231343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894576" y="1280160"/>
            <a:ext cx="16550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Wh- questions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6300216" y="1920240"/>
            <a:ext cx="220370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What are you doing on Friday?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Where will you live in 2035?</a:t>
            </a:r>
            <a:endParaRPr lang="en-US" sz="1400" dirty="0"/>
          </a:p>
        </p:txBody>
      </p:sp>
      <p:sp>
        <p:nvSpPr>
          <p:cNvPr id="18" name="card"/>
          <p:cNvSpPr/>
          <p:nvPr/>
        </p:nvSpPr>
        <p:spPr>
          <a:xfrm>
            <a:off x="457200" y="3566160"/>
            <a:ext cx="8229600" cy="1051560"/>
          </a:xfrm>
          <a:prstGeom prst="roundRect">
            <a:avLst>
              <a:gd name="adj" fmla="val 10435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685800" y="3566160"/>
            <a:ext cx="1737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Be careful!</a:t>
            </a:r>
            <a:endParaRPr lang="en-US" sz="1600" dirty="0"/>
          </a:p>
        </p:txBody>
      </p:sp>
      <p:sp>
        <p:nvSpPr>
          <p:cNvPr id="20" name="Text 15"/>
          <p:cNvSpPr txBox="1"/>
          <p:nvPr/>
        </p:nvSpPr>
        <p:spPr>
          <a:xfrm>
            <a:off x="2468880" y="3566160"/>
            <a:ext cx="6035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bg1"/>
                </a:solidFill>
              </a:rPr>
              <a:t>will + base verb:  I will go ✓   I will to go ✗   I will going ✗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Making an Invitation</a:t>
            </a:r>
            <a:endParaRPr lang="en-US" sz="3000" dirty="0"/>
          </a:p>
        </p:txBody>
      </p:sp>
      <p:sp>
        <p:nvSpPr>
          <p:cNvPr id="3" name="card"/>
          <p:cNvSpPr/>
          <p:nvPr/>
        </p:nvSpPr>
        <p:spPr>
          <a:xfrm>
            <a:off x="457200" y="1097280"/>
            <a:ext cx="1463040" cy="224028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tep number"/>
          <p:cNvSpPr/>
          <p:nvPr/>
        </p:nvSpPr>
        <p:spPr>
          <a:xfrm>
            <a:off x="932688" y="12344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32688" y="12344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8288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Ask,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240280"/>
            <a:ext cx="1280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"Are you free on Saturday?"</a:t>
            </a:r>
            <a:endParaRPr lang="en-US" sz="1400" dirty="0"/>
          </a:p>
        </p:txBody>
      </p:sp>
      <p:pic>
        <p:nvPicPr>
          <p:cNvPr id="8" name="arrow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47672" y="2103120"/>
            <a:ext cx="164592" cy="164592"/>
          </a:xfrm>
          <a:prstGeom prst="rect">
            <a:avLst/>
          </a:prstGeom>
        </p:spPr>
      </p:pic>
      <p:sp>
        <p:nvSpPr>
          <p:cNvPr id="9" name="card"/>
          <p:cNvSpPr/>
          <p:nvPr/>
        </p:nvSpPr>
        <p:spPr>
          <a:xfrm>
            <a:off x="2139696" y="1097280"/>
            <a:ext cx="1463040" cy="224028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tep number"/>
          <p:cNvSpPr/>
          <p:nvPr/>
        </p:nvSpPr>
        <p:spPr>
          <a:xfrm>
            <a:off x="2615184" y="123444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615184" y="12344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2185416" y="18288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Invite,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2231136" y="2240280"/>
            <a:ext cx="1280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"Would you like to come?"</a:t>
            </a:r>
            <a:endParaRPr lang="en-US" sz="1400" dirty="0"/>
          </a:p>
        </p:txBody>
      </p:sp>
      <p:pic>
        <p:nvPicPr>
          <p:cNvPr id="14" name="arrow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0168" y="2103120"/>
            <a:ext cx="164592" cy="164592"/>
          </a:xfrm>
          <a:prstGeom prst="rect">
            <a:avLst/>
          </a:prstGeom>
        </p:spPr>
      </p:pic>
      <p:sp>
        <p:nvSpPr>
          <p:cNvPr id="15" name="card"/>
          <p:cNvSpPr/>
          <p:nvPr/>
        </p:nvSpPr>
        <p:spPr>
          <a:xfrm>
            <a:off x="3822192" y="1097280"/>
            <a:ext cx="1463040" cy="224028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step number"/>
          <p:cNvSpPr/>
          <p:nvPr/>
        </p:nvSpPr>
        <p:spPr>
          <a:xfrm>
            <a:off x="4297680" y="1234440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4297680" y="12344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8" name="Text 14"/>
          <p:cNvSpPr txBox="1"/>
          <p:nvPr/>
        </p:nvSpPr>
        <p:spPr>
          <a:xfrm>
            <a:off x="3867912" y="18288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Answer,</a:t>
            </a:r>
            <a:endParaRPr lang="en-US" sz="1600" dirty="0"/>
          </a:p>
        </p:txBody>
      </p:sp>
      <p:sp>
        <p:nvSpPr>
          <p:cNvPr id="19" name="Text 15"/>
          <p:cNvSpPr txBox="1"/>
          <p:nvPr/>
        </p:nvSpPr>
        <p:spPr>
          <a:xfrm>
            <a:off x="3913632" y="2240280"/>
            <a:ext cx="1280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"I'd love to! / Sorry, I can't."</a:t>
            </a:r>
            <a:endParaRPr lang="en-US" sz="1400" dirty="0"/>
          </a:p>
        </p:txBody>
      </p:sp>
      <p:pic>
        <p:nvPicPr>
          <p:cNvPr id="20" name="arrow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2664" y="2103120"/>
            <a:ext cx="164592" cy="164592"/>
          </a:xfrm>
          <a:prstGeom prst="rect">
            <a:avLst/>
          </a:prstGeom>
        </p:spPr>
      </p:pic>
      <p:sp>
        <p:nvSpPr>
          <p:cNvPr id="21" name="card"/>
          <p:cNvSpPr/>
          <p:nvPr/>
        </p:nvSpPr>
        <p:spPr>
          <a:xfrm>
            <a:off x="5504688" y="1097280"/>
            <a:ext cx="1463040" cy="224028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step number"/>
          <p:cNvSpPr/>
          <p:nvPr/>
        </p:nvSpPr>
        <p:spPr>
          <a:xfrm>
            <a:off x="5980176" y="1234440"/>
            <a:ext cx="502920" cy="5029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5980176" y="12344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24" name="Text 19"/>
          <p:cNvSpPr txBox="1"/>
          <p:nvPr/>
        </p:nvSpPr>
        <p:spPr>
          <a:xfrm>
            <a:off x="5550408" y="18288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Arrange,</a:t>
            </a:r>
            <a:endParaRPr lang="en-US" sz="1600" dirty="0"/>
          </a:p>
        </p:txBody>
      </p:sp>
      <p:sp>
        <p:nvSpPr>
          <p:cNvPr id="25" name="Text 20"/>
          <p:cNvSpPr txBox="1"/>
          <p:nvPr/>
        </p:nvSpPr>
        <p:spPr>
          <a:xfrm>
            <a:off x="5596128" y="2240280"/>
            <a:ext cx="1280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"Let's meet at 5 at the park."</a:t>
            </a:r>
            <a:endParaRPr lang="en-US" sz="1400" dirty="0"/>
          </a:p>
        </p:txBody>
      </p:sp>
      <p:pic>
        <p:nvPicPr>
          <p:cNvPr id="26" name="arrow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95160" y="2103120"/>
            <a:ext cx="164592" cy="164592"/>
          </a:xfrm>
          <a:prstGeom prst="rect">
            <a:avLst/>
          </a:prstGeom>
        </p:spPr>
      </p:pic>
      <p:sp>
        <p:nvSpPr>
          <p:cNvPr id="27" name="card"/>
          <p:cNvSpPr/>
          <p:nvPr/>
        </p:nvSpPr>
        <p:spPr>
          <a:xfrm>
            <a:off x="7187184" y="1097280"/>
            <a:ext cx="1463040" cy="224028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8" name="step number"/>
          <p:cNvSpPr/>
          <p:nvPr/>
        </p:nvSpPr>
        <p:spPr>
          <a:xfrm>
            <a:off x="7662672" y="1234440"/>
            <a:ext cx="502920" cy="50292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7662672" y="12344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5</a:t>
            </a:r>
            <a:endParaRPr lang="en-US" sz="1800" dirty="0"/>
          </a:p>
        </p:txBody>
      </p:sp>
      <p:sp>
        <p:nvSpPr>
          <p:cNvPr id="30" name="Text 24"/>
          <p:cNvSpPr txBox="1"/>
          <p:nvPr/>
        </p:nvSpPr>
        <p:spPr>
          <a:xfrm>
            <a:off x="7232904" y="18288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Confirm,</a:t>
            </a:r>
            <a:endParaRPr lang="en-US" sz="1600" dirty="0"/>
          </a:p>
        </p:txBody>
      </p:sp>
      <p:sp>
        <p:nvSpPr>
          <p:cNvPr id="31" name="Text 25"/>
          <p:cNvSpPr txBox="1"/>
          <p:nvPr/>
        </p:nvSpPr>
        <p:spPr>
          <a:xfrm>
            <a:off x="7278624" y="2240280"/>
            <a:ext cx="1280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"Great! See you then!"</a:t>
            </a:r>
            <a:endParaRPr lang="en-US" sz="1400" dirty="0"/>
          </a:p>
        </p:txBody>
      </p:sp>
      <p:sp>
        <p:nvSpPr>
          <p:cNvPr id="32" name="card"/>
          <p:cNvSpPr/>
          <p:nvPr/>
        </p:nvSpPr>
        <p:spPr>
          <a:xfrm>
            <a:off x="457200" y="3566160"/>
            <a:ext cx="8229600" cy="1051560"/>
          </a:xfrm>
          <a:prstGeom prst="roundRect">
            <a:avLst>
              <a:gd name="adj" fmla="val 10435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685800" y="3566160"/>
            <a:ext cx="1737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More phrases</a:t>
            </a:r>
            <a:endParaRPr lang="en-US" sz="1600" dirty="0"/>
          </a:p>
        </p:txBody>
      </p:sp>
      <p:sp>
        <p:nvSpPr>
          <p:cNvPr id="34" name="Text 28"/>
          <p:cNvSpPr txBox="1"/>
          <p:nvPr/>
        </p:nvSpPr>
        <p:spPr>
          <a:xfrm>
            <a:off x="2468880" y="3566160"/>
            <a:ext cx="6035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bg1"/>
                </a:solidFill>
              </a:rPr>
              <a:t>How about…? · Why don't we…? · Shall we…? · I'm afraid I'm busy. · Maybe another time!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Predictions and Reactions</a:t>
            </a:r>
            <a:endParaRPr lang="en-US" sz="3000" dirty="0"/>
          </a:p>
        </p:txBody>
      </p:sp>
      <p:sp>
        <p:nvSpPr>
          <p:cNvPr id="3" name="card"/>
          <p:cNvSpPr/>
          <p:nvPr/>
        </p:nvSpPr>
        <p:spPr>
          <a:xfrm>
            <a:off x="457200" y="1097280"/>
            <a:ext cx="4206240" cy="352044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28016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How sure are you?</a:t>
            </a:r>
            <a:endParaRPr lang="en-US" sz="1600" dirty="0"/>
          </a:p>
        </p:txBody>
      </p:sp>
      <p:sp>
        <p:nvSpPr>
          <p:cNvPr id="5" name="card"/>
          <p:cNvSpPr/>
          <p:nvPr/>
        </p:nvSpPr>
        <p:spPr>
          <a:xfrm>
            <a:off x="685800" y="1783080"/>
            <a:ext cx="1783080" cy="530352"/>
          </a:xfrm>
          <a:prstGeom prst="roundRect">
            <a:avLst>
              <a:gd name="adj" fmla="val 2069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1783080"/>
            <a:ext cx="1783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I'll definitely…</a:t>
            </a:r>
            <a:endParaRPr lang="en-US" sz="1500" dirty="0"/>
          </a:p>
        </p:txBody>
      </p:sp>
      <p:sp>
        <p:nvSpPr>
          <p:cNvPr id="7" name="card"/>
          <p:cNvSpPr/>
          <p:nvPr/>
        </p:nvSpPr>
        <p:spPr>
          <a:xfrm>
            <a:off x="2606040" y="1783080"/>
            <a:ext cx="1783080" cy="530352"/>
          </a:xfrm>
          <a:prstGeom prst="roundRect">
            <a:avLst>
              <a:gd name="adj" fmla="val 2069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606040" y="1783080"/>
            <a:ext cx="1783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I'll probably…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685800" y="2441448"/>
            <a:ext cx="1783080" cy="530352"/>
          </a:xfrm>
          <a:prstGeom prst="roundRect">
            <a:avLst>
              <a:gd name="adj" fmla="val 2069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2441448"/>
            <a:ext cx="1783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I might…</a:t>
            </a:r>
            <a:endParaRPr lang="en-US" sz="1500" dirty="0"/>
          </a:p>
        </p:txBody>
      </p:sp>
      <p:sp>
        <p:nvSpPr>
          <p:cNvPr id="11" name="card"/>
          <p:cNvSpPr/>
          <p:nvPr/>
        </p:nvSpPr>
        <p:spPr>
          <a:xfrm>
            <a:off x="2606040" y="2441448"/>
            <a:ext cx="1783080" cy="530352"/>
          </a:xfrm>
          <a:prstGeom prst="roundRect">
            <a:avLst>
              <a:gd name="adj" fmla="val 2069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606040" y="2441448"/>
            <a:ext cx="1783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I may not…</a:t>
            </a:r>
            <a:endParaRPr lang="en-US" sz="1500" dirty="0"/>
          </a:p>
        </p:txBody>
      </p:sp>
      <p:sp>
        <p:nvSpPr>
          <p:cNvPr id="13" name="card"/>
          <p:cNvSpPr/>
          <p:nvPr/>
        </p:nvSpPr>
        <p:spPr>
          <a:xfrm>
            <a:off x="685800" y="3099816"/>
            <a:ext cx="1783080" cy="530352"/>
          </a:xfrm>
          <a:prstGeom prst="roundRect">
            <a:avLst>
              <a:gd name="adj" fmla="val 2069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85800" y="3099816"/>
            <a:ext cx="1783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I probably won't…</a:t>
            </a:r>
            <a:endParaRPr lang="en-US" sz="1500" dirty="0"/>
          </a:p>
        </p:txBody>
      </p:sp>
      <p:sp>
        <p:nvSpPr>
          <p:cNvPr id="15" name="card"/>
          <p:cNvSpPr/>
          <p:nvPr/>
        </p:nvSpPr>
        <p:spPr>
          <a:xfrm>
            <a:off x="2606040" y="3099816"/>
            <a:ext cx="1783080" cy="530352"/>
          </a:xfrm>
          <a:prstGeom prst="roundRect">
            <a:avLst>
              <a:gd name="adj" fmla="val 2069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606040" y="3099816"/>
            <a:ext cx="1783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I definitely won't…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" y="384048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In 2040, I think I'll live in Algiers.</a:t>
            </a:r>
            <a:endParaRPr lang="en-US" sz="1400" dirty="0"/>
          </a:p>
        </p:txBody>
      </p:sp>
      <p:sp>
        <p:nvSpPr>
          <p:cNvPr id="18" name="card"/>
          <p:cNvSpPr/>
          <p:nvPr/>
        </p:nvSpPr>
        <p:spPr>
          <a:xfrm>
            <a:off x="4937760" y="1097280"/>
            <a:ext cx="3749040" cy="3520440"/>
          </a:xfrm>
          <a:prstGeom prst="roundRect">
            <a:avLst>
              <a:gd name="adj" fmla="val 311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166360" y="1280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Listener reactions</a:t>
            </a:r>
            <a:endParaRPr lang="en-US" sz="1600" dirty="0"/>
          </a:p>
        </p:txBody>
      </p:sp>
      <p:sp>
        <p:nvSpPr>
          <p:cNvPr id="20" name="icon circle"/>
          <p:cNvSpPr/>
          <p:nvPr/>
        </p:nvSpPr>
        <p:spPr>
          <a:xfrm>
            <a:off x="5166360" y="1783080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21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5240" y="1871960"/>
            <a:ext cx="151425" cy="151425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5623560" y="1783080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Good luck!</a:t>
            </a:r>
            <a:endParaRPr lang="en-US" sz="1500" dirty="0"/>
          </a:p>
        </p:txBody>
      </p:sp>
      <p:sp>
        <p:nvSpPr>
          <p:cNvPr id="23" name="icon circle"/>
          <p:cNvSpPr/>
          <p:nvPr/>
        </p:nvSpPr>
        <p:spPr>
          <a:xfrm>
            <a:off x="5166360" y="2313432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24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5240" y="2402312"/>
            <a:ext cx="151425" cy="151425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5623560" y="2313432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That sounds exciting!</a:t>
            </a:r>
            <a:endParaRPr lang="en-US" sz="1500" dirty="0"/>
          </a:p>
        </p:txBody>
      </p:sp>
      <p:sp>
        <p:nvSpPr>
          <p:cNvPr id="26" name="icon circle"/>
          <p:cNvSpPr/>
          <p:nvPr/>
        </p:nvSpPr>
        <p:spPr>
          <a:xfrm>
            <a:off x="5166360" y="2843784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27" name="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55240" y="2932664"/>
            <a:ext cx="151425" cy="151425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5623560" y="2843784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I hope so!</a:t>
            </a:r>
            <a:endParaRPr lang="en-US" sz="1500" dirty="0"/>
          </a:p>
        </p:txBody>
      </p:sp>
      <p:sp>
        <p:nvSpPr>
          <p:cNvPr id="29" name="icon circle"/>
          <p:cNvSpPr/>
          <p:nvPr/>
        </p:nvSpPr>
        <p:spPr>
          <a:xfrm>
            <a:off x="5166360" y="3374136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30" name="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55240" y="3463016"/>
            <a:ext cx="151425" cy="151425"/>
          </a:xfrm>
          <a:prstGeom prst="rect">
            <a:avLst/>
          </a:prstGeom>
        </p:spPr>
      </p:pic>
      <p:sp>
        <p:nvSpPr>
          <p:cNvPr id="31" name="Text 25"/>
          <p:cNvSpPr txBox="1"/>
          <p:nvPr/>
        </p:nvSpPr>
        <p:spPr>
          <a:xfrm>
            <a:off x="5623560" y="3374136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I'm sure you'll do it!</a:t>
            </a:r>
            <a:endParaRPr lang="en-US" sz="1500" dirty="0"/>
          </a:p>
        </p:txBody>
      </p:sp>
      <p:sp>
        <p:nvSpPr>
          <p:cNvPr id="32" name="icon circle"/>
          <p:cNvSpPr/>
          <p:nvPr/>
        </p:nvSpPr>
        <p:spPr>
          <a:xfrm>
            <a:off x="5166360" y="3904488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33" name="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55240" y="3993368"/>
            <a:ext cx="151425" cy="151425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5623560" y="3904488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Fingers crossed!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2344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PART 2</a:t>
            </a:r>
            <a:endParaRPr lang="en-US" sz="18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69164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A Model Conversation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88036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Listen, read and find the future forms</a:t>
            </a:r>
            <a:endParaRPr lang="en-US" sz="1800" dirty="0"/>
          </a:p>
        </p:txBody>
      </p:sp>
      <p:sp>
        <p:nvSpPr>
          <p:cNvPr id="5" name="divider circle"/>
          <p:cNvSpPr/>
          <p:nvPr/>
        </p:nvSpPr>
        <p:spPr>
          <a:xfrm>
            <a:off x="6400800" y="1417320"/>
            <a:ext cx="2194560" cy="219456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6" name="divider inner"/>
          <p:cNvSpPr/>
          <p:nvPr/>
        </p:nvSpPr>
        <p:spPr>
          <a:xfrm>
            <a:off x="6629400" y="1645920"/>
            <a:ext cx="1737360" cy="173736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7" name="divider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0880" y="2057400"/>
            <a:ext cx="914400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Model: Weekend Plans</a:t>
            </a:r>
            <a:endParaRPr lang="en-US" sz="3000" dirty="0"/>
          </a:p>
        </p:txBody>
      </p:sp>
      <p:sp>
        <p:nvSpPr>
          <p:cNvPr id="3" name="card"/>
          <p:cNvSpPr/>
          <p:nvPr/>
        </p:nvSpPr>
        <p:spPr>
          <a:xfrm>
            <a:off x="457200" y="1097280"/>
            <a:ext cx="5120640" cy="352044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icon circle"/>
          <p:cNvSpPr/>
          <p:nvPr/>
        </p:nvSpPr>
        <p:spPr>
          <a:xfrm>
            <a:off x="685800" y="128016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1588" y="1415948"/>
            <a:ext cx="231343" cy="23134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25880" y="128016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Listen and read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965960"/>
            <a:ext cx="466344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i="1" dirty="0">
                <a:solidFill>
                  <a:schemeClr val="tx1"/>
                </a:solidFill>
              </a:rPr>
              <a:t>Yacine: Hi Amina! What are you doing this weekend?</a:t>
            </a:r>
            <a:endParaRPr lang="en-US" sz="15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500" i="1" dirty="0">
                <a:solidFill>
                  <a:schemeClr val="tx1"/>
                </a:solidFill>
              </a:rPr>
              <a:t>Amina: I'm visiting my grandma on Saturday morning. Why?</a:t>
            </a:r>
            <a:endParaRPr lang="en-US" sz="15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500" i="1" dirty="0">
                <a:solidFill>
                  <a:schemeClr val="tx1"/>
                </a:solidFill>
              </a:rPr>
              <a:t>Yacine: We're going to play football in the afternoon. Would you like to come?</a:t>
            </a:r>
            <a:endParaRPr lang="en-US" sz="15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500" i="1" dirty="0">
                <a:solidFill>
                  <a:schemeClr val="tx1"/>
                </a:solidFill>
              </a:rPr>
              <a:t>Amina: I'd love to! What time?</a:t>
            </a:r>
            <a:endParaRPr lang="en-US" sz="15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500" i="1" dirty="0">
                <a:solidFill>
                  <a:schemeClr val="tx1"/>
                </a:solidFill>
              </a:rPr>
              <a:t>Yacine: At 4. I think it will be sunny.</a:t>
            </a:r>
            <a:endParaRPr lang="en-US" sz="15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500" i="1" dirty="0">
                <a:solidFill>
                  <a:schemeClr val="tx1"/>
                </a:solidFill>
              </a:rPr>
              <a:t>Amina: Great! I'll bring some water. See you then!</a:t>
            </a:r>
            <a:endParaRPr lang="en-US" sz="1500" dirty="0"/>
          </a:p>
        </p:txBody>
      </p:sp>
      <p:sp>
        <p:nvSpPr>
          <p:cNvPr id="8" name="card"/>
          <p:cNvSpPr/>
          <p:nvPr/>
        </p:nvSpPr>
        <p:spPr>
          <a:xfrm>
            <a:off x="5806440" y="1097280"/>
            <a:ext cx="2880360" cy="3520440"/>
          </a:xfrm>
          <a:prstGeom prst="roundRect">
            <a:avLst>
              <a:gd name="adj" fmla="val 381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035040" y="128016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Find in the dialogue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6035040" y="1737360"/>
            <a:ext cx="24688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2 × present continuous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1 × going to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2 × will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1 invitation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1 answer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Plan Your Future: Dream Map</a:t>
            </a:r>
            <a:endParaRPr lang="en-US" sz="3000" dirty="0"/>
          </a:p>
        </p:txBody>
      </p:sp>
      <p:sp>
        <p:nvSpPr>
          <p:cNvPr id="3" name="card"/>
          <p:cNvSpPr/>
          <p:nvPr/>
        </p:nvSpPr>
        <p:spPr>
          <a:xfrm>
            <a:off x="457200" y="1097280"/>
            <a:ext cx="1463040" cy="224028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icon circle"/>
          <p:cNvSpPr/>
          <p:nvPr/>
        </p:nvSpPr>
        <p:spPr>
          <a:xfrm>
            <a:off x="914400" y="128016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3" y="1428293"/>
            <a:ext cx="252374" cy="25237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196596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When?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560320"/>
            <a:ext cx="1280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In 10 years</a:t>
            </a:r>
            <a:endParaRPr lang="en-US" sz="1400" dirty="0"/>
          </a:p>
        </p:txBody>
      </p:sp>
      <p:sp>
        <p:nvSpPr>
          <p:cNvPr id="8" name="card"/>
          <p:cNvSpPr/>
          <p:nvPr/>
        </p:nvSpPr>
        <p:spPr>
          <a:xfrm>
            <a:off x="2139696" y="1097280"/>
            <a:ext cx="1463040" cy="224028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icon circle"/>
          <p:cNvSpPr/>
          <p:nvPr/>
        </p:nvSpPr>
        <p:spPr>
          <a:xfrm>
            <a:off x="2596896" y="128016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0" name="icon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745029" y="1428293"/>
            <a:ext cx="252374" cy="25237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185416" y="196596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Where?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2231136" y="2560320"/>
            <a:ext cx="1280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In Constantine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3822192" y="1097280"/>
            <a:ext cx="1463040" cy="224028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icon circle"/>
          <p:cNvSpPr/>
          <p:nvPr/>
        </p:nvSpPr>
        <p:spPr>
          <a:xfrm>
            <a:off x="4279392" y="1280160"/>
            <a:ext cx="548640" cy="5486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5" name="icon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427525" y="1428293"/>
            <a:ext cx="252374" cy="25237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867912" y="196596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Job?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3913632" y="2560320"/>
            <a:ext cx="1280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An engineer</a:t>
            </a:r>
            <a:endParaRPr lang="en-US" sz="1400" dirty="0"/>
          </a:p>
        </p:txBody>
      </p:sp>
      <p:sp>
        <p:nvSpPr>
          <p:cNvPr id="18" name="card"/>
          <p:cNvSpPr/>
          <p:nvPr/>
        </p:nvSpPr>
        <p:spPr>
          <a:xfrm>
            <a:off x="5504688" y="1097280"/>
            <a:ext cx="1463040" cy="224028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icon circle"/>
          <p:cNvSpPr/>
          <p:nvPr/>
        </p:nvSpPr>
        <p:spPr>
          <a:xfrm>
            <a:off x="5961888" y="1280160"/>
            <a:ext cx="548640" cy="5486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20" name="icon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110021" y="1428293"/>
            <a:ext cx="252374" cy="25237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550408" y="196596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Plans?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5596128" y="2560320"/>
            <a:ext cx="1280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Study, travel, build a house</a:t>
            </a:r>
            <a:endParaRPr lang="en-US" sz="1400" dirty="0"/>
          </a:p>
        </p:txBody>
      </p:sp>
      <p:sp>
        <p:nvSpPr>
          <p:cNvPr id="23" name="card"/>
          <p:cNvSpPr/>
          <p:nvPr/>
        </p:nvSpPr>
        <p:spPr>
          <a:xfrm>
            <a:off x="7187184" y="1097280"/>
            <a:ext cx="1463040" cy="224028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icon circle"/>
          <p:cNvSpPr/>
          <p:nvPr/>
        </p:nvSpPr>
        <p:spPr>
          <a:xfrm>
            <a:off x="7644384" y="1280160"/>
            <a:ext cx="548640" cy="54864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25" name="icon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792517" y="1428293"/>
            <a:ext cx="252374" cy="252374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7232904" y="196596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How will you feel?</a:t>
            </a:r>
            <a:endParaRPr lang="en-US" sz="1500" dirty="0"/>
          </a:p>
        </p:txBody>
      </p:sp>
      <p:sp>
        <p:nvSpPr>
          <p:cNvPr id="27" name="Text 20"/>
          <p:cNvSpPr txBox="1"/>
          <p:nvPr/>
        </p:nvSpPr>
        <p:spPr>
          <a:xfrm>
            <a:off x="7278624" y="2560320"/>
            <a:ext cx="1280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Proud and happy</a:t>
            </a:r>
            <a:endParaRPr lang="en-US" sz="1400" dirty="0"/>
          </a:p>
        </p:txBody>
      </p:sp>
      <p:sp>
        <p:nvSpPr>
          <p:cNvPr id="28" name="card"/>
          <p:cNvSpPr/>
          <p:nvPr/>
        </p:nvSpPr>
        <p:spPr>
          <a:xfrm>
            <a:off x="457200" y="3566160"/>
            <a:ext cx="8229600" cy="1051560"/>
          </a:xfrm>
          <a:prstGeom prst="roundRect">
            <a:avLst>
              <a:gd name="adj" fmla="val 10435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685800" y="3566160"/>
            <a:ext cx="1737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Your turn</a:t>
            </a:r>
            <a:endParaRPr lang="en-US" sz="1600" dirty="0"/>
          </a:p>
        </p:txBody>
      </p:sp>
      <p:sp>
        <p:nvSpPr>
          <p:cNvPr id="30" name="Text 23"/>
          <p:cNvSpPr txBox="1"/>
          <p:nvPr/>
        </p:nvSpPr>
        <p:spPr>
          <a:xfrm>
            <a:off x="2468880" y="3566160"/>
            <a:ext cx="6035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bg1"/>
                </a:solidFill>
              </a:rPr>
              <a:t>Answer the five questions about YOUR future before you speak. Use notes, not full sentences.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2344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PART 3</a:t>
            </a:r>
            <a:endParaRPr lang="en-US" sz="18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69164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Practice Time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88036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My busy week · Find someone who · Fortune teller</a:t>
            </a:r>
            <a:endParaRPr lang="en-US" sz="1800" dirty="0"/>
          </a:p>
        </p:txBody>
      </p:sp>
      <p:sp>
        <p:nvSpPr>
          <p:cNvPr id="5" name="divider circle"/>
          <p:cNvSpPr/>
          <p:nvPr/>
        </p:nvSpPr>
        <p:spPr>
          <a:xfrm>
            <a:off x="6400800" y="1417320"/>
            <a:ext cx="2194560" cy="219456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6" name="divider inner"/>
          <p:cNvSpPr/>
          <p:nvPr/>
        </p:nvSpPr>
        <p:spPr>
          <a:xfrm>
            <a:off x="6629400" y="1645920"/>
            <a:ext cx="1737360" cy="173736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7" name="divider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0" y="2057400"/>
            <a:ext cx="914400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My Busy Week: Make a Plan</a:t>
            </a:r>
            <a:endParaRPr lang="en-US" sz="3000" dirty="0"/>
          </a:p>
        </p:txBody>
      </p:sp>
      <p:sp>
        <p:nvSpPr>
          <p:cNvPr id="3" name="card"/>
          <p:cNvSpPr/>
          <p:nvPr/>
        </p:nvSpPr>
        <p:spPr>
          <a:xfrm>
            <a:off x="457200" y="1097280"/>
            <a:ext cx="1920240" cy="22860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188720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icon circle"/>
          <p:cNvSpPr/>
          <p:nvPr/>
        </p:nvSpPr>
        <p:spPr>
          <a:xfrm>
            <a:off x="914400" y="1371600"/>
            <a:ext cx="1005840" cy="10058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85977" y="1643177"/>
            <a:ext cx="462686" cy="46268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260604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Mon: visit grandma</a:t>
            </a:r>
            <a:endParaRPr lang="en-US" sz="1500" dirty="0"/>
          </a:p>
        </p:txBody>
      </p:sp>
      <p:sp>
        <p:nvSpPr>
          <p:cNvPr id="8" name="card"/>
          <p:cNvSpPr/>
          <p:nvPr/>
        </p:nvSpPr>
        <p:spPr>
          <a:xfrm>
            <a:off x="2560320" y="1097280"/>
            <a:ext cx="1920240" cy="22860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697480" y="1188720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2</a:t>
            </a:r>
            <a:endParaRPr lang="en-US" sz="1400" dirty="0"/>
          </a:p>
        </p:txBody>
      </p:sp>
      <p:sp>
        <p:nvSpPr>
          <p:cNvPr id="10" name="icon circle"/>
          <p:cNvSpPr/>
          <p:nvPr/>
        </p:nvSpPr>
        <p:spPr>
          <a:xfrm>
            <a:off x="3017520" y="1371600"/>
            <a:ext cx="1005840" cy="10058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1" name="icon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89097" y="1643177"/>
            <a:ext cx="462686" cy="46268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2651760" y="260604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Wed: dentist at 4</a:t>
            </a:r>
            <a:endParaRPr lang="en-US" sz="1500" dirty="0"/>
          </a:p>
        </p:txBody>
      </p:sp>
      <p:sp>
        <p:nvSpPr>
          <p:cNvPr id="13" name="card"/>
          <p:cNvSpPr/>
          <p:nvPr/>
        </p:nvSpPr>
        <p:spPr>
          <a:xfrm>
            <a:off x="4663440" y="1097280"/>
            <a:ext cx="1920240" cy="22860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4800600" y="1188720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3</a:t>
            </a:r>
            <a:endParaRPr lang="en-US" sz="1400" dirty="0"/>
          </a:p>
        </p:txBody>
      </p:sp>
      <p:sp>
        <p:nvSpPr>
          <p:cNvPr id="15" name="icon circle"/>
          <p:cNvSpPr/>
          <p:nvPr/>
        </p:nvSpPr>
        <p:spPr>
          <a:xfrm>
            <a:off x="5120640" y="1371600"/>
            <a:ext cx="1005840" cy="10058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6" name="icon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392217" y="1643177"/>
            <a:ext cx="462686" cy="462686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4754880" y="260604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Fri: football match</a:t>
            </a:r>
            <a:endParaRPr lang="en-US" sz="1500" dirty="0"/>
          </a:p>
        </p:txBody>
      </p:sp>
      <p:sp>
        <p:nvSpPr>
          <p:cNvPr id="18" name="card"/>
          <p:cNvSpPr/>
          <p:nvPr/>
        </p:nvSpPr>
        <p:spPr>
          <a:xfrm>
            <a:off x="6766560" y="1097280"/>
            <a:ext cx="1920240" cy="22860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6903720" y="1188720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4</a:t>
            </a:r>
            <a:endParaRPr lang="en-US" sz="1400" dirty="0"/>
          </a:p>
        </p:txBody>
      </p:sp>
      <p:sp>
        <p:nvSpPr>
          <p:cNvPr id="20" name="icon circle"/>
          <p:cNvSpPr/>
          <p:nvPr/>
        </p:nvSpPr>
        <p:spPr>
          <a:xfrm>
            <a:off x="7223760" y="1371600"/>
            <a:ext cx="1005840" cy="10058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21" name="icon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495337" y="1643177"/>
            <a:ext cx="462686" cy="462686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6858000" y="260604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Sat: free!</a:t>
            </a:r>
            <a:endParaRPr lang="en-US" sz="1500" dirty="0"/>
          </a:p>
        </p:txBody>
      </p:sp>
      <p:sp>
        <p:nvSpPr>
          <p:cNvPr id="23" name="card"/>
          <p:cNvSpPr/>
          <p:nvPr/>
        </p:nvSpPr>
        <p:spPr>
          <a:xfrm>
            <a:off x="457200" y="3566160"/>
            <a:ext cx="8229600" cy="1051560"/>
          </a:xfrm>
          <a:prstGeom prst="roundRect">
            <a:avLst>
              <a:gd name="adj" fmla="val 10435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685800" y="3566160"/>
            <a:ext cx="1737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Task</a:t>
            </a:r>
            <a:endParaRPr lang="en-US" sz="1600" dirty="0"/>
          </a:p>
        </p:txBody>
      </p:sp>
      <p:sp>
        <p:nvSpPr>
          <p:cNvPr id="25" name="Text 19"/>
          <p:cNvSpPr txBox="1"/>
          <p:nvPr/>
        </p:nvSpPr>
        <p:spPr>
          <a:xfrm>
            <a:off x="2468880" y="3566160"/>
            <a:ext cx="6035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bg1"/>
                </a:solidFill>
              </a:rPr>
              <a:t>Find a free time with your partner: "I'm visiting my grandma on Monday. Are you free on Saturday?"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Find Someone Who…</a:t>
            </a:r>
            <a:endParaRPr lang="en-US" sz="3000" dirty="0"/>
          </a:p>
        </p:txBody>
      </p:sp>
      <p:sp>
        <p:nvSpPr>
          <p:cNvPr id="3" name="card"/>
          <p:cNvSpPr/>
          <p:nvPr/>
        </p:nvSpPr>
        <p:spPr>
          <a:xfrm>
            <a:off x="457200" y="1097280"/>
            <a:ext cx="2606040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icon circle"/>
          <p:cNvSpPr/>
          <p:nvPr/>
        </p:nvSpPr>
        <p:spPr>
          <a:xfrm>
            <a:off x="594360" y="13716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0148" y="1507388"/>
            <a:ext cx="231343" cy="23134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07008" y="1097280"/>
            <a:ext cx="1783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is going to study tonight</a:t>
            </a:r>
            <a:endParaRPr lang="en-US" sz="1400" dirty="0"/>
          </a:p>
        </p:txBody>
      </p:sp>
      <p:sp>
        <p:nvSpPr>
          <p:cNvPr id="7" name="card"/>
          <p:cNvSpPr/>
          <p:nvPr/>
        </p:nvSpPr>
        <p:spPr>
          <a:xfrm>
            <a:off x="3200400" y="1097280"/>
            <a:ext cx="2606040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icon circle"/>
          <p:cNvSpPr/>
          <p:nvPr/>
        </p:nvSpPr>
        <p:spPr>
          <a:xfrm>
            <a:off x="3337560" y="137160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9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3348" y="1507388"/>
            <a:ext cx="231343" cy="231343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3950208" y="1097280"/>
            <a:ext cx="1783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is meeting friends this weekend</a:t>
            </a:r>
            <a:endParaRPr lang="en-US" sz="1400" dirty="0"/>
          </a:p>
        </p:txBody>
      </p:sp>
      <p:sp>
        <p:nvSpPr>
          <p:cNvPr id="11" name="card"/>
          <p:cNvSpPr/>
          <p:nvPr/>
        </p:nvSpPr>
        <p:spPr>
          <a:xfrm>
            <a:off x="457200" y="2286000"/>
            <a:ext cx="2606040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icon circle"/>
          <p:cNvSpPr/>
          <p:nvPr/>
        </p:nvSpPr>
        <p:spPr>
          <a:xfrm>
            <a:off x="594360" y="2560320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3" name="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0148" y="2696108"/>
            <a:ext cx="231343" cy="231343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207008" y="2286000"/>
            <a:ext cx="1783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is going to travel next summer</a:t>
            </a:r>
            <a:endParaRPr lang="en-US" sz="1400" dirty="0"/>
          </a:p>
        </p:txBody>
      </p:sp>
      <p:sp>
        <p:nvSpPr>
          <p:cNvPr id="15" name="card"/>
          <p:cNvSpPr/>
          <p:nvPr/>
        </p:nvSpPr>
        <p:spPr>
          <a:xfrm>
            <a:off x="3200400" y="2286000"/>
            <a:ext cx="2606040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icon circle"/>
          <p:cNvSpPr/>
          <p:nvPr/>
        </p:nvSpPr>
        <p:spPr>
          <a:xfrm>
            <a:off x="3337560" y="2560320"/>
            <a:ext cx="502920" cy="5029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7" name="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73348" y="2696108"/>
            <a:ext cx="231343" cy="231343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3950208" y="2286000"/>
            <a:ext cx="1783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wants to be a doctor</a:t>
            </a:r>
            <a:endParaRPr lang="en-US" sz="1400" dirty="0"/>
          </a:p>
        </p:txBody>
      </p:sp>
      <p:sp>
        <p:nvSpPr>
          <p:cNvPr id="19" name="card"/>
          <p:cNvSpPr/>
          <p:nvPr/>
        </p:nvSpPr>
        <p:spPr>
          <a:xfrm>
            <a:off x="457200" y="3474720"/>
            <a:ext cx="2606040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icon circle"/>
          <p:cNvSpPr/>
          <p:nvPr/>
        </p:nvSpPr>
        <p:spPr>
          <a:xfrm>
            <a:off x="594360" y="3749040"/>
            <a:ext cx="502920" cy="50292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21" name="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0148" y="3884828"/>
            <a:ext cx="231343" cy="231343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207008" y="3474720"/>
            <a:ext cx="1783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will watch a match on Friday</a:t>
            </a:r>
            <a:endParaRPr lang="en-US" sz="1400" dirty="0"/>
          </a:p>
        </p:txBody>
      </p:sp>
      <p:sp>
        <p:nvSpPr>
          <p:cNvPr id="23" name="card"/>
          <p:cNvSpPr/>
          <p:nvPr/>
        </p:nvSpPr>
        <p:spPr>
          <a:xfrm>
            <a:off x="3200400" y="3474720"/>
            <a:ext cx="2606040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icon circle"/>
          <p:cNvSpPr/>
          <p:nvPr/>
        </p:nvSpPr>
        <p:spPr>
          <a:xfrm>
            <a:off x="3337560" y="3749040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25" name="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73348" y="3884828"/>
            <a:ext cx="231343" cy="231343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3950208" y="3474720"/>
            <a:ext cx="1783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is having a family dinner soon</a:t>
            </a:r>
            <a:endParaRPr lang="en-US" sz="1400" dirty="0"/>
          </a:p>
        </p:txBody>
      </p:sp>
      <p:sp>
        <p:nvSpPr>
          <p:cNvPr id="27" name="card"/>
          <p:cNvSpPr/>
          <p:nvPr/>
        </p:nvSpPr>
        <p:spPr>
          <a:xfrm>
            <a:off x="6035040" y="1097280"/>
            <a:ext cx="2651760" cy="3520440"/>
          </a:xfrm>
          <a:prstGeom prst="roundRect">
            <a:avLst>
              <a:gd name="adj" fmla="val 4138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8" name="Text 20"/>
          <p:cNvSpPr txBox="1"/>
          <p:nvPr/>
        </p:nvSpPr>
        <p:spPr>
          <a:xfrm>
            <a:off x="6263640" y="12801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How to play</a:t>
            </a:r>
            <a:endParaRPr lang="en-US" sz="1600" dirty="0"/>
          </a:p>
        </p:txBody>
      </p:sp>
      <p:sp>
        <p:nvSpPr>
          <p:cNvPr id="29" name="Text 21"/>
          <p:cNvSpPr txBox="1"/>
          <p:nvPr/>
        </p:nvSpPr>
        <p:spPr>
          <a:xfrm>
            <a:off x="6263640" y="1737360"/>
            <a:ext cx="22402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Stand up and move.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Ask: "Are you going to…?"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Yes → write the name.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Ask one more question: "When? Where?"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First to finish wins!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Fortune Teller</a:t>
            </a:r>
            <a:endParaRPr lang="en-US" sz="3000" dirty="0"/>
          </a:p>
        </p:txBody>
      </p:sp>
      <p:sp>
        <p:nvSpPr>
          <p:cNvPr id="3" name="card"/>
          <p:cNvSpPr/>
          <p:nvPr/>
        </p:nvSpPr>
        <p:spPr>
          <a:xfrm>
            <a:off x="457200" y="1097280"/>
            <a:ext cx="5120640" cy="352044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icon circle"/>
          <p:cNvSpPr/>
          <p:nvPr/>
        </p:nvSpPr>
        <p:spPr>
          <a:xfrm>
            <a:off x="685800" y="128016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1588" y="1415948"/>
            <a:ext cx="231343" cy="23134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25880" y="128016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Example</a:t>
            </a:r>
            <a:endParaRPr lang="en-US" sz="1600" dirty="0"/>
          </a:p>
        </p:txBody>
      </p:sp>
      <p:sp>
        <p:nvSpPr>
          <p:cNvPr id="7" name="number"/>
          <p:cNvSpPr/>
          <p:nvPr/>
        </p:nvSpPr>
        <p:spPr>
          <a:xfrm>
            <a:off x="685800" y="2011680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1325880" y="201168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You will become very famous.</a:t>
            </a:r>
            <a:endParaRPr lang="en-US" sz="1500" dirty="0"/>
          </a:p>
        </p:txBody>
      </p:sp>
      <p:sp>
        <p:nvSpPr>
          <p:cNvPr id="10" name="number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1325880" y="278892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You will travel to Japan next year.</a:t>
            </a:r>
            <a:endParaRPr lang="en-US" sz="1500" dirty="0"/>
          </a:p>
        </p:txBody>
      </p:sp>
      <p:sp>
        <p:nvSpPr>
          <p:cNvPr id="13" name="number"/>
          <p:cNvSpPr/>
          <p:nvPr/>
        </p:nvSpPr>
        <p:spPr>
          <a:xfrm>
            <a:off x="685800" y="3566160"/>
            <a:ext cx="457200" cy="45720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85800" y="3566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325880" y="356616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You won't eat couscous for a month!</a:t>
            </a:r>
            <a:endParaRPr lang="en-US" sz="1500" dirty="0"/>
          </a:p>
        </p:txBody>
      </p:sp>
      <p:sp>
        <p:nvSpPr>
          <p:cNvPr id="16" name="card"/>
          <p:cNvSpPr/>
          <p:nvPr/>
        </p:nvSpPr>
        <p:spPr>
          <a:xfrm>
            <a:off x="5806440" y="1097280"/>
            <a:ext cx="2880360" cy="3520440"/>
          </a:xfrm>
          <a:prstGeom prst="roundRect">
            <a:avLst>
              <a:gd name="adj" fmla="val 381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035040" y="128016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Rules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0" y="1737360"/>
            <a:ext cx="24688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Work in pairs.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Make 3 predictions for your partner.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Use will, won't or might.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Your partner reacts: "I hope so!" / "No way!"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Final Task: My Life in 10 Years</a:t>
            </a:r>
            <a:endParaRPr lang="en-US" sz="3000" dirty="0"/>
          </a:p>
        </p:txBody>
      </p:sp>
      <p:sp>
        <p:nvSpPr>
          <p:cNvPr id="3" name="card"/>
          <p:cNvSpPr/>
          <p:nvPr/>
        </p:nvSpPr>
        <p:spPr>
          <a:xfrm>
            <a:off x="457200" y="1097280"/>
            <a:ext cx="4206240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icon circle"/>
          <p:cNvSpPr/>
          <p:nvPr/>
        </p:nvSpPr>
        <p:spPr>
          <a:xfrm>
            <a:off x="640080" y="132588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557" y="1486357"/>
            <a:ext cx="273406" cy="27340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2344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1. Plan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417320" y="160020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Fill in your dream map</a:t>
            </a:r>
            <a:endParaRPr lang="en-US" sz="1400" dirty="0"/>
          </a:p>
        </p:txBody>
      </p:sp>
      <p:sp>
        <p:nvSpPr>
          <p:cNvPr id="8" name="card"/>
          <p:cNvSpPr/>
          <p:nvPr/>
        </p:nvSpPr>
        <p:spPr>
          <a:xfrm>
            <a:off x="457200" y="2286000"/>
            <a:ext cx="4206240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icon circle"/>
          <p:cNvSpPr/>
          <p:nvPr/>
        </p:nvSpPr>
        <p:spPr>
          <a:xfrm>
            <a:off x="640080" y="2514600"/>
            <a:ext cx="594360" cy="5943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0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557" y="2675077"/>
            <a:ext cx="273406" cy="27340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417320" y="24231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2. Practise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1417320" y="278892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Talk to a partner about your future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457200" y="3474720"/>
            <a:ext cx="4206240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icon circle"/>
          <p:cNvSpPr/>
          <p:nvPr/>
        </p:nvSpPr>
        <p:spPr>
          <a:xfrm>
            <a:off x="640080" y="3703320"/>
            <a:ext cx="594360" cy="59436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5" name="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557" y="3863797"/>
            <a:ext cx="273406" cy="27340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417320" y="36118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3. Present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1417320" y="39776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Speak for one minute to the class</a:t>
            </a:r>
            <a:endParaRPr lang="en-US" sz="1400" dirty="0"/>
          </a:p>
        </p:txBody>
      </p:sp>
      <p:sp>
        <p:nvSpPr>
          <p:cNvPr id="18" name="card"/>
          <p:cNvSpPr/>
          <p:nvPr/>
        </p:nvSpPr>
        <p:spPr>
          <a:xfrm>
            <a:off x="4937760" y="1097280"/>
            <a:ext cx="3749040" cy="3429000"/>
          </a:xfrm>
          <a:prstGeom prst="roundRect">
            <a:avLst>
              <a:gd name="adj" fmla="val 32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5166360" y="1280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Success checklist</a:t>
            </a:r>
            <a:endParaRPr lang="en-US" sz="1600" dirty="0"/>
          </a:p>
        </p:txBody>
      </p:sp>
      <p:sp>
        <p:nvSpPr>
          <p:cNvPr id="20" name="icon circle"/>
          <p:cNvSpPr/>
          <p:nvPr/>
        </p:nvSpPr>
        <p:spPr>
          <a:xfrm>
            <a:off x="5166360" y="1783080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1" name="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55240" y="1871960"/>
            <a:ext cx="151425" cy="151425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623560" y="1783080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going to for plans</a:t>
            </a:r>
            <a:endParaRPr lang="en-US" sz="1400" dirty="0"/>
          </a:p>
        </p:txBody>
      </p:sp>
      <p:sp>
        <p:nvSpPr>
          <p:cNvPr id="23" name="icon circle"/>
          <p:cNvSpPr/>
          <p:nvPr/>
        </p:nvSpPr>
        <p:spPr>
          <a:xfrm>
            <a:off x="5166360" y="2313432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4" name="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55240" y="2402312"/>
            <a:ext cx="151425" cy="151425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5623560" y="2313432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will / might for predictions</a:t>
            </a:r>
            <a:endParaRPr lang="en-US" sz="1400" dirty="0"/>
          </a:p>
        </p:txBody>
      </p:sp>
      <p:sp>
        <p:nvSpPr>
          <p:cNvPr id="26" name="icon circle"/>
          <p:cNvSpPr/>
          <p:nvPr/>
        </p:nvSpPr>
        <p:spPr>
          <a:xfrm>
            <a:off x="5166360" y="284378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7" name="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55240" y="2932664"/>
            <a:ext cx="151425" cy="151425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5623560" y="2843784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Time expressions (in 10 years, next…)</a:t>
            </a:r>
            <a:endParaRPr lang="en-US" sz="1400" dirty="0"/>
          </a:p>
        </p:txBody>
      </p:sp>
      <p:sp>
        <p:nvSpPr>
          <p:cNvPr id="29" name="icon circle"/>
          <p:cNvSpPr/>
          <p:nvPr/>
        </p:nvSpPr>
        <p:spPr>
          <a:xfrm>
            <a:off x="5166360" y="3374136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30" name="icon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55240" y="3463016"/>
            <a:ext cx="151425" cy="151425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5623560" y="3374136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Reasons with because</a:t>
            </a:r>
            <a:endParaRPr lang="en-US" sz="1400" dirty="0"/>
          </a:p>
        </p:txBody>
      </p:sp>
      <p:sp>
        <p:nvSpPr>
          <p:cNvPr id="32" name="icon circle"/>
          <p:cNvSpPr/>
          <p:nvPr/>
        </p:nvSpPr>
        <p:spPr>
          <a:xfrm>
            <a:off x="5166360" y="3904488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33" name="icon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55240" y="3993368"/>
            <a:ext cx="151425" cy="151425"/>
          </a:xfrm>
          <a:prstGeom prst="rect">
            <a:avLst/>
          </a:prstGeom>
        </p:spPr>
      </p:pic>
      <p:sp>
        <p:nvSpPr>
          <p:cNvPr id="34" name="Text 24"/>
          <p:cNvSpPr txBox="1"/>
          <p:nvPr/>
        </p:nvSpPr>
        <p:spPr>
          <a:xfrm>
            <a:off x="5623560" y="3904488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Clear voice and eye contact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5120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See You in the Future!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43200"/>
            <a:ext cx="5120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Homework: Write 8–10 lines: "My plans for next summer". Use going to, will and the present continuous.</a:t>
            </a:r>
            <a:endParaRPr lang="en-US" sz="1800" dirty="0"/>
          </a:p>
        </p:txBody>
      </p:sp>
      <p:sp>
        <p:nvSpPr>
          <p:cNvPr id="4" name="hero circle"/>
          <p:cNvSpPr/>
          <p:nvPr/>
        </p:nvSpPr>
        <p:spPr>
          <a:xfrm>
            <a:off x="6126480" y="1188720"/>
            <a:ext cx="2468880" cy="24688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hero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1828800"/>
            <a:ext cx="1188720" cy="11887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peaking Class">
  <a:themeElements>
    <a:clrScheme name="Speaking Class">
      <a:dk1>
        <a:srgbClr val="1F2433"/>
      </a:dk1>
      <a:lt1>
        <a:srgbClr val="FFFFFF"/>
      </a:lt1>
      <a:dk2>
        <a:srgbClr val="2F3C7E"/>
      </a:dk2>
      <a:lt2>
        <a:srgbClr val="F1F3FA"/>
      </a:lt2>
      <a:accent1>
        <a:srgbClr val="F96167"/>
      </a:accent1>
      <a:accent2>
        <a:srgbClr val="F4A62A"/>
      </a:accent2>
      <a:accent3>
        <a:srgbClr val="2A9D8F"/>
      </a:accent3>
      <a:accent4>
        <a:srgbClr val="6C5CE7"/>
      </a:accent4>
      <a:accent5>
        <a:srgbClr val="E76F51"/>
      </a:accent5>
      <a:accent6>
        <a:srgbClr val="8D99AE"/>
      </a:accent6>
      <a:hlink>
        <a:srgbClr val="2F3C7E"/>
      </a:hlink>
      <a:folHlink>
        <a:srgbClr val="6C5CE7"/>
      </a:folHlink>
    </a:clrScheme>
    <a:fontScheme name="Speaking Class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4 - Telling a Story</dc:title>
  <dc:subject>PptxGenJS Presentation</dc:subject>
  <dc:creator>PptxGenJS</dc:creator>
  <cp:lastModifiedBy>PptxGenJS</cp:lastModifiedBy>
  <cp:revision>1</cp:revision>
  <dcterms:created xsi:type="dcterms:W3CDTF">2026-10-09T11:30:33Z</dcterms:created>
  <dcterms:modified xsi:type="dcterms:W3CDTF">2026-10-09T11:30:33Z</dcterms:modified>
</cp:coreProperties>
</file>